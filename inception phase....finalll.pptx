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3" r:id="rId8"/>
    <p:sldId id="262"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63" d="100"/>
          <a:sy n="63" d="100"/>
        </p:scale>
        <p:origin x="80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2.xml.rels><?xml version="1.0" encoding="UTF-8" standalone="yes"?>
<Relationships xmlns="http://schemas.openxmlformats.org/package/2006/relationships"><Relationship Id="rId8" Type="http://schemas.openxmlformats.org/officeDocument/2006/relationships/image" Target="../media/image15.svg"/><Relationship Id="rId13" Type="http://schemas.openxmlformats.org/officeDocument/2006/relationships/image" Target="../media/image20.pn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9.sv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11" Type="http://schemas.openxmlformats.org/officeDocument/2006/relationships/image" Target="../media/image18.png"/><Relationship Id="rId5" Type="http://schemas.openxmlformats.org/officeDocument/2006/relationships/image" Target="../media/image12.png"/><Relationship Id="rId10" Type="http://schemas.openxmlformats.org/officeDocument/2006/relationships/image" Target="../media/image17.svg"/><Relationship Id="rId4" Type="http://schemas.openxmlformats.org/officeDocument/2006/relationships/image" Target="../media/image11.svg"/><Relationship Id="rId9" Type="http://schemas.openxmlformats.org/officeDocument/2006/relationships/image" Target="../media/image16.png"/><Relationship Id="rId14" Type="http://schemas.openxmlformats.org/officeDocument/2006/relationships/image" Target="../media/image21.svg"/></Relationships>
</file>

<file path=ppt/diagrams/_rels/drawing2.xml.rels><?xml version="1.0" encoding="UTF-8" standalone="yes"?>
<Relationships xmlns="http://schemas.openxmlformats.org/package/2006/relationships"><Relationship Id="rId8" Type="http://schemas.openxmlformats.org/officeDocument/2006/relationships/image" Target="../media/image15.svg"/><Relationship Id="rId13" Type="http://schemas.openxmlformats.org/officeDocument/2006/relationships/image" Target="../media/image20.pn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9.sv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11" Type="http://schemas.openxmlformats.org/officeDocument/2006/relationships/image" Target="../media/image18.png"/><Relationship Id="rId5" Type="http://schemas.openxmlformats.org/officeDocument/2006/relationships/image" Target="../media/image12.png"/><Relationship Id="rId10" Type="http://schemas.openxmlformats.org/officeDocument/2006/relationships/image" Target="../media/image17.svg"/><Relationship Id="rId4" Type="http://schemas.openxmlformats.org/officeDocument/2006/relationships/image" Target="../media/image11.svg"/><Relationship Id="rId9" Type="http://schemas.openxmlformats.org/officeDocument/2006/relationships/image" Target="../media/image16.png"/><Relationship Id="rId14" Type="http://schemas.openxmlformats.org/officeDocument/2006/relationships/image" Target="../media/image21.sv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566349A-8B05-453D-8741-B96238FFDBA8}" type="doc">
      <dgm:prSet loTypeId="urn:microsoft.com/office/officeart/2005/8/layout/process5" loCatId="process" qsTypeId="urn:microsoft.com/office/officeart/2005/8/quickstyle/simple1" qsCatId="simple" csTypeId="urn:microsoft.com/office/officeart/2005/8/colors/colorful5" csCatId="colorful" phldr="1"/>
      <dgm:spPr/>
      <dgm:t>
        <a:bodyPr/>
        <a:lstStyle/>
        <a:p>
          <a:endParaRPr lang="en-US"/>
        </a:p>
      </dgm:t>
    </dgm:pt>
    <dgm:pt modelId="{72071BE3-9CD5-49A7-9D66-A19993180E62}">
      <dgm:prSet/>
      <dgm:spPr/>
      <dgm:t>
        <a:bodyPr/>
        <a:lstStyle/>
        <a:p>
          <a:r>
            <a:rPr lang="en-US" b="1"/>
            <a:t>Coordinator – Shumba.N.David</a:t>
          </a:r>
          <a:endParaRPr lang="en-US"/>
        </a:p>
      </dgm:t>
    </dgm:pt>
    <dgm:pt modelId="{21CF556D-1302-4FAE-9EFE-5CEAD0E43847}" type="parTrans" cxnId="{F55867B1-A7FC-454B-9E87-B242F2478812}">
      <dgm:prSet/>
      <dgm:spPr/>
      <dgm:t>
        <a:bodyPr/>
        <a:lstStyle/>
        <a:p>
          <a:endParaRPr lang="en-US"/>
        </a:p>
      </dgm:t>
    </dgm:pt>
    <dgm:pt modelId="{5D21542F-220B-43D7-BDAC-5C63A28A8DBD}" type="sibTrans" cxnId="{F55867B1-A7FC-454B-9E87-B242F2478812}">
      <dgm:prSet/>
      <dgm:spPr/>
      <dgm:t>
        <a:bodyPr/>
        <a:lstStyle/>
        <a:p>
          <a:endParaRPr lang="en-US"/>
        </a:p>
      </dgm:t>
    </dgm:pt>
    <dgm:pt modelId="{743D6FF1-4809-4510-ACE1-7CABE85E086C}">
      <dgm:prSet/>
      <dgm:spPr/>
      <dgm:t>
        <a:bodyPr/>
        <a:lstStyle/>
        <a:p>
          <a:r>
            <a:rPr lang="en-US" b="1"/>
            <a:t>Technical Lead -osterd </a:t>
          </a:r>
          <a:endParaRPr lang="en-US"/>
        </a:p>
      </dgm:t>
    </dgm:pt>
    <dgm:pt modelId="{2DFB320E-08C7-48C6-B845-3B9DA3EDAB46}" type="parTrans" cxnId="{32FADC8C-A84C-453F-822E-8DB2ECC73724}">
      <dgm:prSet/>
      <dgm:spPr/>
      <dgm:t>
        <a:bodyPr/>
        <a:lstStyle/>
        <a:p>
          <a:endParaRPr lang="en-US"/>
        </a:p>
      </dgm:t>
    </dgm:pt>
    <dgm:pt modelId="{9A6415E9-5DB2-4056-8543-6E309188B069}" type="sibTrans" cxnId="{32FADC8C-A84C-453F-822E-8DB2ECC73724}">
      <dgm:prSet/>
      <dgm:spPr/>
      <dgm:t>
        <a:bodyPr/>
        <a:lstStyle/>
        <a:p>
          <a:endParaRPr lang="en-US"/>
        </a:p>
      </dgm:t>
    </dgm:pt>
    <dgm:pt modelId="{459BF9E9-6E79-482F-B3BF-E0E11836A53F}">
      <dgm:prSet/>
      <dgm:spPr/>
      <dgm:t>
        <a:bodyPr/>
        <a:lstStyle/>
        <a:p>
          <a:r>
            <a:rPr lang="en-US" b="1"/>
            <a:t>QA Lead-Vernon N. Longwani</a:t>
          </a:r>
          <a:endParaRPr lang="en-US"/>
        </a:p>
      </dgm:t>
    </dgm:pt>
    <dgm:pt modelId="{D626E58E-29CA-4D64-A45E-6D911EFBD8DE}" type="parTrans" cxnId="{049E0D0F-9A7A-4143-B03B-9BC0CE494D53}">
      <dgm:prSet/>
      <dgm:spPr/>
      <dgm:t>
        <a:bodyPr/>
        <a:lstStyle/>
        <a:p>
          <a:endParaRPr lang="en-US"/>
        </a:p>
      </dgm:t>
    </dgm:pt>
    <dgm:pt modelId="{CC7C4CE3-D8BC-4FC5-A0ED-7A7A429B6E39}" type="sibTrans" cxnId="{049E0D0F-9A7A-4143-B03B-9BC0CE494D53}">
      <dgm:prSet/>
      <dgm:spPr/>
      <dgm:t>
        <a:bodyPr/>
        <a:lstStyle/>
        <a:p>
          <a:endParaRPr lang="en-US"/>
        </a:p>
      </dgm:t>
    </dgm:pt>
    <dgm:pt modelId="{0016FBA6-9724-4575-BFF0-2CA255AA5219}">
      <dgm:prSet/>
      <dgm:spPr/>
      <dgm:t>
        <a:bodyPr/>
        <a:lstStyle/>
        <a:p>
          <a:r>
            <a:rPr lang="en-US" b="1" dirty="0"/>
            <a:t>Documentation Lead -Arthur</a:t>
          </a:r>
          <a:endParaRPr lang="en-US" dirty="0"/>
        </a:p>
      </dgm:t>
    </dgm:pt>
    <dgm:pt modelId="{6BBDE39C-2C01-410F-B778-459BC83A3149}" type="parTrans" cxnId="{34C4E45B-F871-4E3C-A709-AA6655C3A92D}">
      <dgm:prSet/>
      <dgm:spPr/>
      <dgm:t>
        <a:bodyPr/>
        <a:lstStyle/>
        <a:p>
          <a:endParaRPr lang="en-US"/>
        </a:p>
      </dgm:t>
    </dgm:pt>
    <dgm:pt modelId="{30983512-B8B6-4D59-8DD6-A226E27DBDC7}" type="sibTrans" cxnId="{34C4E45B-F871-4E3C-A709-AA6655C3A92D}">
      <dgm:prSet/>
      <dgm:spPr/>
      <dgm:t>
        <a:bodyPr/>
        <a:lstStyle/>
        <a:p>
          <a:endParaRPr lang="en-US"/>
        </a:p>
      </dgm:t>
    </dgm:pt>
    <dgm:pt modelId="{6759E07E-C0CF-422B-852E-3FAA61DFD350}">
      <dgm:prSet/>
      <dgm:spPr/>
      <dgm:t>
        <a:bodyPr/>
        <a:lstStyle/>
        <a:p>
          <a:r>
            <a:rPr lang="en-US" b="1" dirty="0"/>
            <a:t>Presenter _Emmanuel Banda</a:t>
          </a:r>
          <a:endParaRPr lang="en-US" dirty="0"/>
        </a:p>
      </dgm:t>
    </dgm:pt>
    <dgm:pt modelId="{60F9C55D-2BE2-4C70-837B-80ED8820C588}" type="parTrans" cxnId="{6855F692-E913-44A1-84B8-863711D65E08}">
      <dgm:prSet/>
      <dgm:spPr/>
      <dgm:t>
        <a:bodyPr/>
        <a:lstStyle/>
        <a:p>
          <a:endParaRPr lang="en-US"/>
        </a:p>
      </dgm:t>
    </dgm:pt>
    <dgm:pt modelId="{27EEFCE8-19E4-4E87-9C33-B0FCB58CCD6A}" type="sibTrans" cxnId="{6855F692-E913-44A1-84B8-863711D65E08}">
      <dgm:prSet/>
      <dgm:spPr/>
      <dgm:t>
        <a:bodyPr/>
        <a:lstStyle/>
        <a:p>
          <a:endParaRPr lang="en-US"/>
        </a:p>
      </dgm:t>
    </dgm:pt>
    <dgm:pt modelId="{DCCFB645-A390-435D-8FC6-35EE79BE8C06}" type="pres">
      <dgm:prSet presAssocID="{F566349A-8B05-453D-8741-B96238FFDBA8}" presName="diagram" presStyleCnt="0">
        <dgm:presLayoutVars>
          <dgm:dir/>
          <dgm:resizeHandles val="exact"/>
        </dgm:presLayoutVars>
      </dgm:prSet>
      <dgm:spPr/>
    </dgm:pt>
    <dgm:pt modelId="{DE2510BA-BA32-4FFC-938E-8387D30A46B3}" type="pres">
      <dgm:prSet presAssocID="{72071BE3-9CD5-49A7-9D66-A19993180E62}" presName="node" presStyleLbl="node1" presStyleIdx="0" presStyleCnt="5">
        <dgm:presLayoutVars>
          <dgm:bulletEnabled val="1"/>
        </dgm:presLayoutVars>
      </dgm:prSet>
      <dgm:spPr/>
    </dgm:pt>
    <dgm:pt modelId="{799E9D9F-20E3-4FD7-88BE-F199E6BA4554}" type="pres">
      <dgm:prSet presAssocID="{5D21542F-220B-43D7-BDAC-5C63A28A8DBD}" presName="sibTrans" presStyleLbl="sibTrans2D1" presStyleIdx="0" presStyleCnt="4"/>
      <dgm:spPr/>
    </dgm:pt>
    <dgm:pt modelId="{BB42BD9D-ABBE-4A9B-86A5-2156D4500D59}" type="pres">
      <dgm:prSet presAssocID="{5D21542F-220B-43D7-BDAC-5C63A28A8DBD}" presName="connectorText" presStyleLbl="sibTrans2D1" presStyleIdx="0" presStyleCnt="4"/>
      <dgm:spPr/>
    </dgm:pt>
    <dgm:pt modelId="{1D1BE9BF-DAD1-4961-88A0-3BFB629BC39A}" type="pres">
      <dgm:prSet presAssocID="{743D6FF1-4809-4510-ACE1-7CABE85E086C}" presName="node" presStyleLbl="node1" presStyleIdx="1" presStyleCnt="5">
        <dgm:presLayoutVars>
          <dgm:bulletEnabled val="1"/>
        </dgm:presLayoutVars>
      </dgm:prSet>
      <dgm:spPr/>
    </dgm:pt>
    <dgm:pt modelId="{D76869EC-3107-4631-BB4C-599210930BF8}" type="pres">
      <dgm:prSet presAssocID="{9A6415E9-5DB2-4056-8543-6E309188B069}" presName="sibTrans" presStyleLbl="sibTrans2D1" presStyleIdx="1" presStyleCnt="4"/>
      <dgm:spPr/>
    </dgm:pt>
    <dgm:pt modelId="{5F76382E-D7FC-4810-8FBA-6D14C1155AB4}" type="pres">
      <dgm:prSet presAssocID="{9A6415E9-5DB2-4056-8543-6E309188B069}" presName="connectorText" presStyleLbl="sibTrans2D1" presStyleIdx="1" presStyleCnt="4"/>
      <dgm:spPr/>
    </dgm:pt>
    <dgm:pt modelId="{271264D8-6DDA-4A20-BD07-01B624F62203}" type="pres">
      <dgm:prSet presAssocID="{459BF9E9-6E79-482F-B3BF-E0E11836A53F}" presName="node" presStyleLbl="node1" presStyleIdx="2" presStyleCnt="5">
        <dgm:presLayoutVars>
          <dgm:bulletEnabled val="1"/>
        </dgm:presLayoutVars>
      </dgm:prSet>
      <dgm:spPr/>
    </dgm:pt>
    <dgm:pt modelId="{5B103A3A-5B35-46EA-A46B-418592CC337A}" type="pres">
      <dgm:prSet presAssocID="{CC7C4CE3-D8BC-4FC5-A0ED-7A7A429B6E39}" presName="sibTrans" presStyleLbl="sibTrans2D1" presStyleIdx="2" presStyleCnt="4"/>
      <dgm:spPr/>
    </dgm:pt>
    <dgm:pt modelId="{8DCD09FC-8330-4D8E-B6C6-362D6CD1F0A2}" type="pres">
      <dgm:prSet presAssocID="{CC7C4CE3-D8BC-4FC5-A0ED-7A7A429B6E39}" presName="connectorText" presStyleLbl="sibTrans2D1" presStyleIdx="2" presStyleCnt="4"/>
      <dgm:spPr/>
    </dgm:pt>
    <dgm:pt modelId="{8DD579BC-DBD9-4105-B63A-2319778A6034}" type="pres">
      <dgm:prSet presAssocID="{0016FBA6-9724-4575-BFF0-2CA255AA5219}" presName="node" presStyleLbl="node1" presStyleIdx="3" presStyleCnt="5">
        <dgm:presLayoutVars>
          <dgm:bulletEnabled val="1"/>
        </dgm:presLayoutVars>
      </dgm:prSet>
      <dgm:spPr/>
    </dgm:pt>
    <dgm:pt modelId="{B2151243-6B2C-47CC-BC18-BFA5E6F7401E}" type="pres">
      <dgm:prSet presAssocID="{30983512-B8B6-4D59-8DD6-A226E27DBDC7}" presName="sibTrans" presStyleLbl="sibTrans2D1" presStyleIdx="3" presStyleCnt="4"/>
      <dgm:spPr/>
    </dgm:pt>
    <dgm:pt modelId="{368C8928-3751-4723-BF96-7E6B8EFB7B8D}" type="pres">
      <dgm:prSet presAssocID="{30983512-B8B6-4D59-8DD6-A226E27DBDC7}" presName="connectorText" presStyleLbl="sibTrans2D1" presStyleIdx="3" presStyleCnt="4"/>
      <dgm:spPr/>
    </dgm:pt>
    <dgm:pt modelId="{3EEBE888-5B73-4B79-A251-9A97C40ACB90}" type="pres">
      <dgm:prSet presAssocID="{6759E07E-C0CF-422B-852E-3FAA61DFD350}" presName="node" presStyleLbl="node1" presStyleIdx="4" presStyleCnt="5">
        <dgm:presLayoutVars>
          <dgm:bulletEnabled val="1"/>
        </dgm:presLayoutVars>
      </dgm:prSet>
      <dgm:spPr/>
    </dgm:pt>
  </dgm:ptLst>
  <dgm:cxnLst>
    <dgm:cxn modelId="{049E0D0F-9A7A-4143-B03B-9BC0CE494D53}" srcId="{F566349A-8B05-453D-8741-B96238FFDBA8}" destId="{459BF9E9-6E79-482F-B3BF-E0E11836A53F}" srcOrd="2" destOrd="0" parTransId="{D626E58E-29CA-4D64-A45E-6D911EFBD8DE}" sibTransId="{CC7C4CE3-D8BC-4FC5-A0ED-7A7A429B6E39}"/>
    <dgm:cxn modelId="{7DB9D818-6FB9-45F3-BDEF-5B6759683EEC}" type="presOf" srcId="{CC7C4CE3-D8BC-4FC5-A0ED-7A7A429B6E39}" destId="{5B103A3A-5B35-46EA-A46B-418592CC337A}" srcOrd="0" destOrd="0" presId="urn:microsoft.com/office/officeart/2005/8/layout/process5"/>
    <dgm:cxn modelId="{718B4A1C-81CC-48CF-8150-FC4E7A7CDE23}" type="presOf" srcId="{F566349A-8B05-453D-8741-B96238FFDBA8}" destId="{DCCFB645-A390-435D-8FC6-35EE79BE8C06}" srcOrd="0" destOrd="0" presId="urn:microsoft.com/office/officeart/2005/8/layout/process5"/>
    <dgm:cxn modelId="{38F5F121-757B-4C66-BE0C-E6E517B7F91F}" type="presOf" srcId="{6759E07E-C0CF-422B-852E-3FAA61DFD350}" destId="{3EEBE888-5B73-4B79-A251-9A97C40ACB90}" srcOrd="0" destOrd="0" presId="urn:microsoft.com/office/officeart/2005/8/layout/process5"/>
    <dgm:cxn modelId="{153EBE35-EADC-4051-93CB-1E1F3BFFFBDB}" type="presOf" srcId="{5D21542F-220B-43D7-BDAC-5C63A28A8DBD}" destId="{799E9D9F-20E3-4FD7-88BE-F199E6BA4554}" srcOrd="0" destOrd="0" presId="urn:microsoft.com/office/officeart/2005/8/layout/process5"/>
    <dgm:cxn modelId="{34C4E45B-F871-4E3C-A709-AA6655C3A92D}" srcId="{F566349A-8B05-453D-8741-B96238FFDBA8}" destId="{0016FBA6-9724-4575-BFF0-2CA255AA5219}" srcOrd="3" destOrd="0" parTransId="{6BBDE39C-2C01-410F-B778-459BC83A3149}" sibTransId="{30983512-B8B6-4D59-8DD6-A226E27DBDC7}"/>
    <dgm:cxn modelId="{2BFF5F5F-EA95-44F8-93A3-24437A8E6DF7}" type="presOf" srcId="{72071BE3-9CD5-49A7-9D66-A19993180E62}" destId="{DE2510BA-BA32-4FFC-938E-8387D30A46B3}" srcOrd="0" destOrd="0" presId="urn:microsoft.com/office/officeart/2005/8/layout/process5"/>
    <dgm:cxn modelId="{ED8F0765-50A1-4498-919F-44EE442FDA3D}" type="presOf" srcId="{9A6415E9-5DB2-4056-8543-6E309188B069}" destId="{D76869EC-3107-4631-BB4C-599210930BF8}" srcOrd="0" destOrd="0" presId="urn:microsoft.com/office/officeart/2005/8/layout/process5"/>
    <dgm:cxn modelId="{087AD548-333D-4C5E-B997-5665C78EE6EF}" type="presOf" srcId="{9A6415E9-5DB2-4056-8543-6E309188B069}" destId="{5F76382E-D7FC-4810-8FBA-6D14C1155AB4}" srcOrd="1" destOrd="0" presId="urn:microsoft.com/office/officeart/2005/8/layout/process5"/>
    <dgm:cxn modelId="{9B498155-404F-44BC-B220-F31A7E6257F0}" type="presOf" srcId="{459BF9E9-6E79-482F-B3BF-E0E11836A53F}" destId="{271264D8-6DDA-4A20-BD07-01B624F62203}" srcOrd="0" destOrd="0" presId="urn:microsoft.com/office/officeart/2005/8/layout/process5"/>
    <dgm:cxn modelId="{F2FCB958-CEC5-4A14-8563-CABADF95B9A2}" type="presOf" srcId="{30983512-B8B6-4D59-8DD6-A226E27DBDC7}" destId="{368C8928-3751-4723-BF96-7E6B8EFB7B8D}" srcOrd="1" destOrd="0" presId="urn:microsoft.com/office/officeart/2005/8/layout/process5"/>
    <dgm:cxn modelId="{35C19079-9BB4-4C29-BBBA-B54228ECCD76}" type="presOf" srcId="{30983512-B8B6-4D59-8DD6-A226E27DBDC7}" destId="{B2151243-6B2C-47CC-BC18-BFA5E6F7401E}" srcOrd="0" destOrd="0" presId="urn:microsoft.com/office/officeart/2005/8/layout/process5"/>
    <dgm:cxn modelId="{B63B457A-D563-4575-B0F4-D5D069C69D47}" type="presOf" srcId="{0016FBA6-9724-4575-BFF0-2CA255AA5219}" destId="{8DD579BC-DBD9-4105-B63A-2319778A6034}" srcOrd="0" destOrd="0" presId="urn:microsoft.com/office/officeart/2005/8/layout/process5"/>
    <dgm:cxn modelId="{32FADC8C-A84C-453F-822E-8DB2ECC73724}" srcId="{F566349A-8B05-453D-8741-B96238FFDBA8}" destId="{743D6FF1-4809-4510-ACE1-7CABE85E086C}" srcOrd="1" destOrd="0" parTransId="{2DFB320E-08C7-48C6-B845-3B9DA3EDAB46}" sibTransId="{9A6415E9-5DB2-4056-8543-6E309188B069}"/>
    <dgm:cxn modelId="{6855F692-E913-44A1-84B8-863711D65E08}" srcId="{F566349A-8B05-453D-8741-B96238FFDBA8}" destId="{6759E07E-C0CF-422B-852E-3FAA61DFD350}" srcOrd="4" destOrd="0" parTransId="{60F9C55D-2BE2-4C70-837B-80ED8820C588}" sibTransId="{27EEFCE8-19E4-4E87-9C33-B0FCB58CCD6A}"/>
    <dgm:cxn modelId="{51E451A8-AADD-490D-A353-0FE974506490}" type="presOf" srcId="{743D6FF1-4809-4510-ACE1-7CABE85E086C}" destId="{1D1BE9BF-DAD1-4961-88A0-3BFB629BC39A}" srcOrd="0" destOrd="0" presId="urn:microsoft.com/office/officeart/2005/8/layout/process5"/>
    <dgm:cxn modelId="{E74CCAAD-9585-4E87-AE21-5D6E59F4AC5A}" type="presOf" srcId="{5D21542F-220B-43D7-BDAC-5C63A28A8DBD}" destId="{BB42BD9D-ABBE-4A9B-86A5-2156D4500D59}" srcOrd="1" destOrd="0" presId="urn:microsoft.com/office/officeart/2005/8/layout/process5"/>
    <dgm:cxn modelId="{F55867B1-A7FC-454B-9E87-B242F2478812}" srcId="{F566349A-8B05-453D-8741-B96238FFDBA8}" destId="{72071BE3-9CD5-49A7-9D66-A19993180E62}" srcOrd="0" destOrd="0" parTransId="{21CF556D-1302-4FAE-9EFE-5CEAD0E43847}" sibTransId="{5D21542F-220B-43D7-BDAC-5C63A28A8DBD}"/>
    <dgm:cxn modelId="{1946B6FF-237D-4217-A014-B32D268B8088}" type="presOf" srcId="{CC7C4CE3-D8BC-4FC5-A0ED-7A7A429B6E39}" destId="{8DCD09FC-8330-4D8E-B6C6-362D6CD1F0A2}" srcOrd="1" destOrd="0" presId="urn:microsoft.com/office/officeart/2005/8/layout/process5"/>
    <dgm:cxn modelId="{BFECDF74-2997-496F-BA32-4BDD0927A079}" type="presParOf" srcId="{DCCFB645-A390-435D-8FC6-35EE79BE8C06}" destId="{DE2510BA-BA32-4FFC-938E-8387D30A46B3}" srcOrd="0" destOrd="0" presId="urn:microsoft.com/office/officeart/2005/8/layout/process5"/>
    <dgm:cxn modelId="{3D463D0A-D8E2-4609-9A52-8EF00C60AA9C}" type="presParOf" srcId="{DCCFB645-A390-435D-8FC6-35EE79BE8C06}" destId="{799E9D9F-20E3-4FD7-88BE-F199E6BA4554}" srcOrd="1" destOrd="0" presId="urn:microsoft.com/office/officeart/2005/8/layout/process5"/>
    <dgm:cxn modelId="{83E7181F-E0FE-4A43-AECE-4ADF128E80AA}" type="presParOf" srcId="{799E9D9F-20E3-4FD7-88BE-F199E6BA4554}" destId="{BB42BD9D-ABBE-4A9B-86A5-2156D4500D59}" srcOrd="0" destOrd="0" presId="urn:microsoft.com/office/officeart/2005/8/layout/process5"/>
    <dgm:cxn modelId="{1ACCF704-F956-4513-B5C6-DC4CE7A49742}" type="presParOf" srcId="{DCCFB645-A390-435D-8FC6-35EE79BE8C06}" destId="{1D1BE9BF-DAD1-4961-88A0-3BFB629BC39A}" srcOrd="2" destOrd="0" presId="urn:microsoft.com/office/officeart/2005/8/layout/process5"/>
    <dgm:cxn modelId="{98F780A3-65CF-4D47-B178-B4D20FD85DD3}" type="presParOf" srcId="{DCCFB645-A390-435D-8FC6-35EE79BE8C06}" destId="{D76869EC-3107-4631-BB4C-599210930BF8}" srcOrd="3" destOrd="0" presId="urn:microsoft.com/office/officeart/2005/8/layout/process5"/>
    <dgm:cxn modelId="{3CB7BE51-F98F-404B-B965-800AB4D409AF}" type="presParOf" srcId="{D76869EC-3107-4631-BB4C-599210930BF8}" destId="{5F76382E-D7FC-4810-8FBA-6D14C1155AB4}" srcOrd="0" destOrd="0" presId="urn:microsoft.com/office/officeart/2005/8/layout/process5"/>
    <dgm:cxn modelId="{59ABFA6C-E0B0-4268-9B81-C535215091E3}" type="presParOf" srcId="{DCCFB645-A390-435D-8FC6-35EE79BE8C06}" destId="{271264D8-6DDA-4A20-BD07-01B624F62203}" srcOrd="4" destOrd="0" presId="urn:microsoft.com/office/officeart/2005/8/layout/process5"/>
    <dgm:cxn modelId="{A64C59CD-AA50-498E-BDA7-6108E655E6BF}" type="presParOf" srcId="{DCCFB645-A390-435D-8FC6-35EE79BE8C06}" destId="{5B103A3A-5B35-46EA-A46B-418592CC337A}" srcOrd="5" destOrd="0" presId="urn:microsoft.com/office/officeart/2005/8/layout/process5"/>
    <dgm:cxn modelId="{9985A1C6-54AE-4511-95A2-5ADA53B466A8}" type="presParOf" srcId="{5B103A3A-5B35-46EA-A46B-418592CC337A}" destId="{8DCD09FC-8330-4D8E-B6C6-362D6CD1F0A2}" srcOrd="0" destOrd="0" presId="urn:microsoft.com/office/officeart/2005/8/layout/process5"/>
    <dgm:cxn modelId="{8596DC23-2D0C-4466-B0FE-259DF627F323}" type="presParOf" srcId="{DCCFB645-A390-435D-8FC6-35EE79BE8C06}" destId="{8DD579BC-DBD9-4105-B63A-2319778A6034}" srcOrd="6" destOrd="0" presId="urn:microsoft.com/office/officeart/2005/8/layout/process5"/>
    <dgm:cxn modelId="{A0D8A095-9BDA-4899-89C6-25D0702A6115}" type="presParOf" srcId="{DCCFB645-A390-435D-8FC6-35EE79BE8C06}" destId="{B2151243-6B2C-47CC-BC18-BFA5E6F7401E}" srcOrd="7" destOrd="0" presId="urn:microsoft.com/office/officeart/2005/8/layout/process5"/>
    <dgm:cxn modelId="{8DC30F47-AF9A-4395-B300-56DBC6A81216}" type="presParOf" srcId="{B2151243-6B2C-47CC-BC18-BFA5E6F7401E}" destId="{368C8928-3751-4723-BF96-7E6B8EFB7B8D}" srcOrd="0" destOrd="0" presId="urn:microsoft.com/office/officeart/2005/8/layout/process5"/>
    <dgm:cxn modelId="{BB851B62-488C-4ACF-ABB3-06CEB1E29163}" type="presParOf" srcId="{DCCFB645-A390-435D-8FC6-35EE79BE8C06}" destId="{3EEBE888-5B73-4B79-A251-9A97C40ACB90}" srcOrd="8" destOrd="0" presId="urn:microsoft.com/office/officeart/2005/8/layout/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F11C001-387D-47EB-8836-FC2251EE97D7}"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0BF80A23-CB2A-45B7-A40A-E226091A65A5}">
      <dgm:prSet/>
      <dgm:spPr/>
      <dgm:t>
        <a:bodyPr/>
        <a:lstStyle/>
        <a:p>
          <a:r>
            <a:rPr lang="en-US"/>
            <a:t>Business Opportunity:</a:t>
          </a:r>
        </a:p>
      </dgm:t>
    </dgm:pt>
    <dgm:pt modelId="{63887BDD-FEED-42D5-AEEB-4754CA354D9B}" type="parTrans" cxnId="{9A972238-898D-4253-B998-B3D4419049F1}">
      <dgm:prSet/>
      <dgm:spPr/>
      <dgm:t>
        <a:bodyPr/>
        <a:lstStyle/>
        <a:p>
          <a:endParaRPr lang="en-US"/>
        </a:p>
      </dgm:t>
    </dgm:pt>
    <dgm:pt modelId="{0506A75A-2BCF-49B4-98D6-6EE4AFA2B1F8}" type="sibTrans" cxnId="{9A972238-898D-4253-B998-B3D4419049F1}">
      <dgm:prSet/>
      <dgm:spPr/>
      <dgm:t>
        <a:bodyPr/>
        <a:lstStyle/>
        <a:p>
          <a:endParaRPr lang="en-US"/>
        </a:p>
      </dgm:t>
    </dgm:pt>
    <dgm:pt modelId="{341D653F-5F93-4D66-8E61-DCD6D08F71A4}">
      <dgm:prSet/>
      <dgm:spPr/>
      <dgm:t>
        <a:bodyPr/>
        <a:lstStyle/>
        <a:p>
          <a:r>
            <a:rPr lang="en-US"/>
            <a:t>- Automate retail operations</a:t>
          </a:r>
          <a:br>
            <a:rPr lang="en-US"/>
          </a:br>
          <a:r>
            <a:rPr lang="en-US"/>
            <a:t>- Improve inventory accuracy</a:t>
          </a:r>
          <a:br>
            <a:rPr lang="en-US"/>
          </a:br>
          <a:r>
            <a:rPr lang="en-US"/>
            <a:t>- Increase profitability</a:t>
          </a:r>
          <a:br>
            <a:rPr lang="en-US"/>
          </a:br>
          <a:r>
            <a:rPr lang="en-US"/>
            <a:t>- Enhance customer service</a:t>
          </a:r>
        </a:p>
      </dgm:t>
    </dgm:pt>
    <dgm:pt modelId="{624AEDE4-F225-48DC-99F9-082448F2FB41}" type="parTrans" cxnId="{C3C2DB80-9445-412A-9894-0D1BFEDAB474}">
      <dgm:prSet/>
      <dgm:spPr/>
      <dgm:t>
        <a:bodyPr/>
        <a:lstStyle/>
        <a:p>
          <a:endParaRPr lang="en-US"/>
        </a:p>
      </dgm:t>
    </dgm:pt>
    <dgm:pt modelId="{D9A3036F-60F8-4DAE-BBD7-ABA816604EEF}" type="sibTrans" cxnId="{C3C2DB80-9445-412A-9894-0D1BFEDAB474}">
      <dgm:prSet/>
      <dgm:spPr/>
      <dgm:t>
        <a:bodyPr/>
        <a:lstStyle/>
        <a:p>
          <a:endParaRPr lang="en-US"/>
        </a:p>
      </dgm:t>
    </dgm:pt>
    <dgm:pt modelId="{CCA71625-AFC1-4D25-B0A7-471A36B44F34}">
      <dgm:prSet/>
      <dgm:spPr/>
      <dgm:t>
        <a:bodyPr/>
        <a:lstStyle/>
        <a:p>
          <a:r>
            <a:rPr lang="en-US"/>
            <a:t>Expected Benefits:</a:t>
          </a:r>
        </a:p>
      </dgm:t>
    </dgm:pt>
    <dgm:pt modelId="{3E7E6C72-4627-4317-B283-FF221E7DD181}" type="parTrans" cxnId="{BB30E712-E17D-4AA7-910E-EAAA30DB5F64}">
      <dgm:prSet/>
      <dgm:spPr/>
      <dgm:t>
        <a:bodyPr/>
        <a:lstStyle/>
        <a:p>
          <a:endParaRPr lang="en-US"/>
        </a:p>
      </dgm:t>
    </dgm:pt>
    <dgm:pt modelId="{284D60C9-E586-4E66-82BE-41A1027273C3}" type="sibTrans" cxnId="{BB30E712-E17D-4AA7-910E-EAAA30DB5F64}">
      <dgm:prSet/>
      <dgm:spPr/>
      <dgm:t>
        <a:bodyPr/>
        <a:lstStyle/>
        <a:p>
          <a:endParaRPr lang="en-US"/>
        </a:p>
      </dgm:t>
    </dgm:pt>
    <dgm:pt modelId="{47C300B5-E30D-410D-8B4F-85F579D29AD3}">
      <dgm:prSet/>
      <dgm:spPr/>
      <dgm:t>
        <a:bodyPr/>
        <a:lstStyle/>
        <a:p>
          <a:r>
            <a:rPr lang="en-US"/>
            <a:t>- Real-time inventory control</a:t>
          </a:r>
          <a:br>
            <a:rPr lang="en-US"/>
          </a:br>
          <a:r>
            <a:rPr lang="en-US"/>
            <a:t>- Faster billing process</a:t>
          </a:r>
          <a:br>
            <a:rPr lang="en-US"/>
          </a:br>
          <a:r>
            <a:rPr lang="en-US"/>
            <a:t>- Accurate financial reports</a:t>
          </a:r>
          <a:br>
            <a:rPr lang="en-US"/>
          </a:br>
          <a:r>
            <a:rPr lang="en-US"/>
            <a:t>- Reduced human errors</a:t>
          </a:r>
          <a:br>
            <a:rPr lang="en-US"/>
          </a:br>
          <a:r>
            <a:rPr lang="en-US"/>
            <a:t>- Secure role-based access control</a:t>
          </a:r>
        </a:p>
      </dgm:t>
    </dgm:pt>
    <dgm:pt modelId="{1B50E2E3-9414-4888-A341-96D3063B3404}" type="parTrans" cxnId="{471AD5EF-3016-4816-AE2A-965C35CFAF48}">
      <dgm:prSet/>
      <dgm:spPr/>
      <dgm:t>
        <a:bodyPr/>
        <a:lstStyle/>
        <a:p>
          <a:endParaRPr lang="en-US"/>
        </a:p>
      </dgm:t>
    </dgm:pt>
    <dgm:pt modelId="{76D0661B-493E-4F9F-B6B9-9D2E0E5EDD28}" type="sibTrans" cxnId="{471AD5EF-3016-4816-AE2A-965C35CFAF48}">
      <dgm:prSet/>
      <dgm:spPr/>
      <dgm:t>
        <a:bodyPr/>
        <a:lstStyle/>
        <a:p>
          <a:endParaRPr lang="en-US"/>
        </a:p>
      </dgm:t>
    </dgm:pt>
    <dgm:pt modelId="{697D171A-285B-44E9-9A16-7308A39DF9F0}">
      <dgm:prSet/>
      <dgm:spPr/>
      <dgm:t>
        <a:bodyPr/>
        <a:lstStyle/>
        <a:p>
          <a:r>
            <a:rPr lang="en-US"/>
            <a:t>Stakeholders:</a:t>
          </a:r>
        </a:p>
      </dgm:t>
    </dgm:pt>
    <dgm:pt modelId="{68E18554-86BE-40C8-BBFF-49894CACD89B}" type="parTrans" cxnId="{E37BA970-AEEF-4A15-9D1A-BCE467BB14A3}">
      <dgm:prSet/>
      <dgm:spPr/>
      <dgm:t>
        <a:bodyPr/>
        <a:lstStyle/>
        <a:p>
          <a:endParaRPr lang="en-US"/>
        </a:p>
      </dgm:t>
    </dgm:pt>
    <dgm:pt modelId="{8BDA7A37-1024-4987-9D3F-6BC2959E0391}" type="sibTrans" cxnId="{E37BA970-AEEF-4A15-9D1A-BCE467BB14A3}">
      <dgm:prSet/>
      <dgm:spPr/>
      <dgm:t>
        <a:bodyPr/>
        <a:lstStyle/>
        <a:p>
          <a:endParaRPr lang="en-US"/>
        </a:p>
      </dgm:t>
    </dgm:pt>
    <dgm:pt modelId="{8CF592F5-9CF1-42F5-BD8E-15FBEB463E01}">
      <dgm:prSet/>
      <dgm:spPr/>
      <dgm:t>
        <a:bodyPr/>
        <a:lstStyle/>
        <a:p>
          <a:r>
            <a:rPr lang="en-US"/>
            <a:t>- Store Owner</a:t>
          </a:r>
          <a:br>
            <a:rPr lang="en-US"/>
          </a:br>
          <a:r>
            <a:rPr lang="en-US"/>
            <a:t>- Cashier</a:t>
          </a:r>
          <a:br>
            <a:rPr lang="en-US"/>
          </a:br>
          <a:r>
            <a:rPr lang="en-US"/>
            <a:t>- Inventory Manager</a:t>
          </a:r>
          <a:br>
            <a:rPr lang="en-US"/>
          </a:br>
          <a:r>
            <a:rPr lang="en-US"/>
            <a:t>- Customers</a:t>
          </a:r>
          <a:br>
            <a:rPr lang="en-US"/>
          </a:br>
          <a:r>
            <a:rPr lang="en-US"/>
            <a:t>- Development Team</a:t>
          </a:r>
        </a:p>
      </dgm:t>
    </dgm:pt>
    <dgm:pt modelId="{C9725D59-9A2C-4F52-82BC-7EE5D5F1CC6C}" type="parTrans" cxnId="{FF39CE7D-275D-4AD9-A644-DFC575F11CB1}">
      <dgm:prSet/>
      <dgm:spPr/>
      <dgm:t>
        <a:bodyPr/>
        <a:lstStyle/>
        <a:p>
          <a:endParaRPr lang="en-US"/>
        </a:p>
      </dgm:t>
    </dgm:pt>
    <dgm:pt modelId="{D8A1A2B3-0002-4986-836F-71E84200C11E}" type="sibTrans" cxnId="{FF39CE7D-275D-4AD9-A644-DFC575F11CB1}">
      <dgm:prSet/>
      <dgm:spPr/>
      <dgm:t>
        <a:bodyPr/>
        <a:lstStyle/>
        <a:p>
          <a:endParaRPr lang="en-US"/>
        </a:p>
      </dgm:t>
    </dgm:pt>
    <dgm:pt modelId="{F98B6FD3-C57E-4AE4-9D13-6F49B395A824}">
      <dgm:prSet/>
      <dgm:spPr/>
      <dgm:t>
        <a:bodyPr/>
        <a:lstStyle/>
        <a:p>
          <a:r>
            <a:rPr lang="en-US"/>
            <a:t>-Suppliers </a:t>
          </a:r>
        </a:p>
      </dgm:t>
    </dgm:pt>
    <dgm:pt modelId="{3B8872DC-CFDD-4182-863D-DBC5F0AB2D94}" type="parTrans" cxnId="{F5387629-C386-4077-BB6A-B417E8792440}">
      <dgm:prSet/>
      <dgm:spPr/>
      <dgm:t>
        <a:bodyPr/>
        <a:lstStyle/>
        <a:p>
          <a:endParaRPr lang="en-US"/>
        </a:p>
      </dgm:t>
    </dgm:pt>
    <dgm:pt modelId="{7006E93D-26C2-42C7-97B1-4128ED298EC1}" type="sibTrans" cxnId="{F5387629-C386-4077-BB6A-B417E8792440}">
      <dgm:prSet/>
      <dgm:spPr/>
      <dgm:t>
        <a:bodyPr/>
        <a:lstStyle/>
        <a:p>
          <a:endParaRPr lang="en-US"/>
        </a:p>
      </dgm:t>
    </dgm:pt>
    <dgm:pt modelId="{8C936764-676A-452B-A544-30C2B093AB34}" type="pres">
      <dgm:prSet presAssocID="{6F11C001-387D-47EB-8836-FC2251EE97D7}" presName="root" presStyleCnt="0">
        <dgm:presLayoutVars>
          <dgm:dir/>
          <dgm:resizeHandles val="exact"/>
        </dgm:presLayoutVars>
      </dgm:prSet>
      <dgm:spPr/>
    </dgm:pt>
    <dgm:pt modelId="{E61E52F9-400D-441F-B2D8-C91658BFF925}" type="pres">
      <dgm:prSet presAssocID="{0BF80A23-CB2A-45B7-A40A-E226091A65A5}" presName="compNode" presStyleCnt="0"/>
      <dgm:spPr/>
    </dgm:pt>
    <dgm:pt modelId="{74106C93-3D54-4689-BEF2-E62DF6F0233A}" type="pres">
      <dgm:prSet presAssocID="{0BF80A23-CB2A-45B7-A40A-E226091A65A5}" presName="iconRect" presStyleLbl="node1" presStyleIdx="0" presStyleCnt="7"/>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usiness Growth"/>
        </a:ext>
      </dgm:extLst>
    </dgm:pt>
    <dgm:pt modelId="{FCC0A2DC-61EF-473C-AEAF-EE10943ED4AC}" type="pres">
      <dgm:prSet presAssocID="{0BF80A23-CB2A-45B7-A40A-E226091A65A5}" presName="spaceRect" presStyleCnt="0"/>
      <dgm:spPr/>
    </dgm:pt>
    <dgm:pt modelId="{FDECC617-7AE3-4710-8751-F0B74361111A}" type="pres">
      <dgm:prSet presAssocID="{0BF80A23-CB2A-45B7-A40A-E226091A65A5}" presName="textRect" presStyleLbl="revTx" presStyleIdx="0" presStyleCnt="7">
        <dgm:presLayoutVars>
          <dgm:chMax val="1"/>
          <dgm:chPref val="1"/>
        </dgm:presLayoutVars>
      </dgm:prSet>
      <dgm:spPr/>
    </dgm:pt>
    <dgm:pt modelId="{2623FEDE-4996-44C7-BE31-AF8A60C898A2}" type="pres">
      <dgm:prSet presAssocID="{0506A75A-2BCF-49B4-98D6-6EE4AFA2B1F8}" presName="sibTrans" presStyleCnt="0"/>
      <dgm:spPr/>
    </dgm:pt>
    <dgm:pt modelId="{AA93AB90-9F54-4400-B635-F2664ADB9CE4}" type="pres">
      <dgm:prSet presAssocID="{341D653F-5F93-4D66-8E61-DCD6D08F71A4}" presName="compNode" presStyleCnt="0"/>
      <dgm:spPr/>
    </dgm:pt>
    <dgm:pt modelId="{5224C7D9-01B7-490B-9ED0-80C581D6C873}" type="pres">
      <dgm:prSet presAssocID="{341D653F-5F93-4D66-8E61-DCD6D08F71A4}" presName="iconRect" presStyleLbl="node1" presStyleIdx="1" presStyleCnt="7"/>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ullseye"/>
        </a:ext>
      </dgm:extLst>
    </dgm:pt>
    <dgm:pt modelId="{83560180-1DD6-4934-A918-0619F989A040}" type="pres">
      <dgm:prSet presAssocID="{341D653F-5F93-4D66-8E61-DCD6D08F71A4}" presName="spaceRect" presStyleCnt="0"/>
      <dgm:spPr/>
    </dgm:pt>
    <dgm:pt modelId="{AA2A7ED3-DCED-4061-A1C2-C6EC265F968F}" type="pres">
      <dgm:prSet presAssocID="{341D653F-5F93-4D66-8E61-DCD6D08F71A4}" presName="textRect" presStyleLbl="revTx" presStyleIdx="1" presStyleCnt="7">
        <dgm:presLayoutVars>
          <dgm:chMax val="1"/>
          <dgm:chPref val="1"/>
        </dgm:presLayoutVars>
      </dgm:prSet>
      <dgm:spPr/>
    </dgm:pt>
    <dgm:pt modelId="{86F5AD7F-823F-4AB8-93B4-89DADD51DB5C}" type="pres">
      <dgm:prSet presAssocID="{D9A3036F-60F8-4DAE-BBD7-ABA816604EEF}" presName="sibTrans" presStyleCnt="0"/>
      <dgm:spPr/>
    </dgm:pt>
    <dgm:pt modelId="{DD433068-DB2B-4524-8101-8FC82EC0E89F}" type="pres">
      <dgm:prSet presAssocID="{CCA71625-AFC1-4D25-B0A7-471A36B44F34}" presName="compNode" presStyleCnt="0"/>
      <dgm:spPr/>
    </dgm:pt>
    <dgm:pt modelId="{C8A9DD3F-D42A-4E75-9840-D46CDBE3E412}" type="pres">
      <dgm:prSet presAssocID="{CCA71625-AFC1-4D25-B0A7-471A36B44F34}" presName="iconRect" presStyleLbl="node1" presStyleIdx="2" presStyleCnt="7"/>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Upward trend"/>
        </a:ext>
      </dgm:extLst>
    </dgm:pt>
    <dgm:pt modelId="{4A90C938-9BC3-4572-98B6-0AB6B1E9F106}" type="pres">
      <dgm:prSet presAssocID="{CCA71625-AFC1-4D25-B0A7-471A36B44F34}" presName="spaceRect" presStyleCnt="0"/>
      <dgm:spPr/>
    </dgm:pt>
    <dgm:pt modelId="{5ACFD5A1-99A3-418C-B629-9C83D7E08B74}" type="pres">
      <dgm:prSet presAssocID="{CCA71625-AFC1-4D25-B0A7-471A36B44F34}" presName="textRect" presStyleLbl="revTx" presStyleIdx="2" presStyleCnt="7">
        <dgm:presLayoutVars>
          <dgm:chMax val="1"/>
          <dgm:chPref val="1"/>
        </dgm:presLayoutVars>
      </dgm:prSet>
      <dgm:spPr/>
    </dgm:pt>
    <dgm:pt modelId="{F6C12191-BD12-495B-8948-EFED98D8138E}" type="pres">
      <dgm:prSet presAssocID="{284D60C9-E586-4E66-82BE-41A1027273C3}" presName="sibTrans" presStyleCnt="0"/>
      <dgm:spPr/>
    </dgm:pt>
    <dgm:pt modelId="{091C3F5F-0450-4D3A-B71D-1383CF9AD289}" type="pres">
      <dgm:prSet presAssocID="{47C300B5-E30D-410D-8B4F-85F579D29AD3}" presName="compNode" presStyleCnt="0"/>
      <dgm:spPr/>
    </dgm:pt>
    <dgm:pt modelId="{A8BA094B-07E7-4D46-B82B-A5B04BB9F162}" type="pres">
      <dgm:prSet presAssocID="{47C300B5-E30D-410D-8B4F-85F579D29AD3}" presName="iconRect" presStyleLbl="node1" presStyleIdx="3" presStyleCnt="7"/>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Processor"/>
        </a:ext>
      </dgm:extLst>
    </dgm:pt>
    <dgm:pt modelId="{BAA3F947-36AC-42EB-BAEA-E530BA1A2814}" type="pres">
      <dgm:prSet presAssocID="{47C300B5-E30D-410D-8B4F-85F579D29AD3}" presName="spaceRect" presStyleCnt="0"/>
      <dgm:spPr/>
    </dgm:pt>
    <dgm:pt modelId="{9971E734-71FB-4EDA-B3CB-DCEDD87B0749}" type="pres">
      <dgm:prSet presAssocID="{47C300B5-E30D-410D-8B4F-85F579D29AD3}" presName="textRect" presStyleLbl="revTx" presStyleIdx="3" presStyleCnt="7">
        <dgm:presLayoutVars>
          <dgm:chMax val="1"/>
          <dgm:chPref val="1"/>
        </dgm:presLayoutVars>
      </dgm:prSet>
      <dgm:spPr/>
    </dgm:pt>
    <dgm:pt modelId="{828D959A-DE09-4BB7-8872-E83472977EF5}" type="pres">
      <dgm:prSet presAssocID="{76D0661B-493E-4F9F-B6B9-9D2E0E5EDD28}" presName="sibTrans" presStyleCnt="0"/>
      <dgm:spPr/>
    </dgm:pt>
    <dgm:pt modelId="{BBC62FEE-C488-4E5D-ACDE-FBBF379288B1}" type="pres">
      <dgm:prSet presAssocID="{697D171A-285B-44E9-9A16-7308A39DF9F0}" presName="compNode" presStyleCnt="0"/>
      <dgm:spPr/>
    </dgm:pt>
    <dgm:pt modelId="{3E237373-A181-4050-81D8-D71A7C82D722}" type="pres">
      <dgm:prSet presAssocID="{697D171A-285B-44E9-9A16-7308A39DF9F0}" presName="iconRect" presStyleLbl="node1" presStyleIdx="4" presStyleCnt="7"/>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Users"/>
        </a:ext>
      </dgm:extLst>
    </dgm:pt>
    <dgm:pt modelId="{5D641223-D11E-4364-BCC7-04094A82A3FF}" type="pres">
      <dgm:prSet presAssocID="{697D171A-285B-44E9-9A16-7308A39DF9F0}" presName="spaceRect" presStyleCnt="0"/>
      <dgm:spPr/>
    </dgm:pt>
    <dgm:pt modelId="{8B0AD0C0-F0DA-4CD8-830E-EAFA0FF514BC}" type="pres">
      <dgm:prSet presAssocID="{697D171A-285B-44E9-9A16-7308A39DF9F0}" presName="textRect" presStyleLbl="revTx" presStyleIdx="4" presStyleCnt="7">
        <dgm:presLayoutVars>
          <dgm:chMax val="1"/>
          <dgm:chPref val="1"/>
        </dgm:presLayoutVars>
      </dgm:prSet>
      <dgm:spPr/>
    </dgm:pt>
    <dgm:pt modelId="{B8B2B4AD-9DC1-4F16-AB72-FF52541254B1}" type="pres">
      <dgm:prSet presAssocID="{8BDA7A37-1024-4987-9D3F-6BC2959E0391}" presName="sibTrans" presStyleCnt="0"/>
      <dgm:spPr/>
    </dgm:pt>
    <dgm:pt modelId="{5C3177B9-DCFF-4D02-9A8F-E893F9B2340C}" type="pres">
      <dgm:prSet presAssocID="{8CF592F5-9CF1-42F5-BD8E-15FBEB463E01}" presName="compNode" presStyleCnt="0"/>
      <dgm:spPr/>
    </dgm:pt>
    <dgm:pt modelId="{92D90A46-1A39-4BC4-991D-659778C93F29}" type="pres">
      <dgm:prSet presAssocID="{8CF592F5-9CF1-42F5-BD8E-15FBEB463E01}" presName="iconRect" presStyleLbl="node1" presStyleIdx="5" presStyleCnt="7"/>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Share With Person"/>
        </a:ext>
      </dgm:extLst>
    </dgm:pt>
    <dgm:pt modelId="{5454F3A7-2557-4645-BE34-9653FDB79544}" type="pres">
      <dgm:prSet presAssocID="{8CF592F5-9CF1-42F5-BD8E-15FBEB463E01}" presName="spaceRect" presStyleCnt="0"/>
      <dgm:spPr/>
    </dgm:pt>
    <dgm:pt modelId="{79812E8D-36BD-4CE4-BD46-478D38E6FF1C}" type="pres">
      <dgm:prSet presAssocID="{8CF592F5-9CF1-42F5-BD8E-15FBEB463E01}" presName="textRect" presStyleLbl="revTx" presStyleIdx="5" presStyleCnt="7">
        <dgm:presLayoutVars>
          <dgm:chMax val="1"/>
          <dgm:chPref val="1"/>
        </dgm:presLayoutVars>
      </dgm:prSet>
      <dgm:spPr/>
    </dgm:pt>
    <dgm:pt modelId="{B6293E73-6FE2-487A-AFDB-08F08804D419}" type="pres">
      <dgm:prSet presAssocID="{D8A1A2B3-0002-4986-836F-71E84200C11E}" presName="sibTrans" presStyleCnt="0"/>
      <dgm:spPr/>
    </dgm:pt>
    <dgm:pt modelId="{1B99CCC1-EC4C-4555-904E-E62983E472D3}" type="pres">
      <dgm:prSet presAssocID="{F98B6FD3-C57E-4AE4-9D13-6F49B395A824}" presName="compNode" presStyleCnt="0"/>
      <dgm:spPr/>
    </dgm:pt>
    <dgm:pt modelId="{8E143C6B-F20D-42FF-A569-8A50CE69DE58}" type="pres">
      <dgm:prSet presAssocID="{F98B6FD3-C57E-4AE4-9D13-6F49B395A824}" presName="iconRect" presStyleLbl="node1" presStyleIdx="6" presStyleCnt="7"/>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a:noFill/>
        </a:ln>
      </dgm:spPr>
      <dgm:extLst>
        <a:ext uri="{E40237B7-FDA0-4F09-8148-C483321AD2D9}">
          <dgm14:cNvPr xmlns:dgm14="http://schemas.microsoft.com/office/drawing/2010/diagram" id="0" name="" descr="Factory"/>
        </a:ext>
      </dgm:extLst>
    </dgm:pt>
    <dgm:pt modelId="{FB81CADF-5523-407E-8790-6939893726E2}" type="pres">
      <dgm:prSet presAssocID="{F98B6FD3-C57E-4AE4-9D13-6F49B395A824}" presName="spaceRect" presStyleCnt="0"/>
      <dgm:spPr/>
    </dgm:pt>
    <dgm:pt modelId="{CB900CC7-0974-4434-9AE4-35685DAEC151}" type="pres">
      <dgm:prSet presAssocID="{F98B6FD3-C57E-4AE4-9D13-6F49B395A824}" presName="textRect" presStyleLbl="revTx" presStyleIdx="6" presStyleCnt="7">
        <dgm:presLayoutVars>
          <dgm:chMax val="1"/>
          <dgm:chPref val="1"/>
        </dgm:presLayoutVars>
      </dgm:prSet>
      <dgm:spPr/>
    </dgm:pt>
  </dgm:ptLst>
  <dgm:cxnLst>
    <dgm:cxn modelId="{DB6D5012-CA7F-425C-B762-F0AD904BBA1E}" type="presOf" srcId="{697D171A-285B-44E9-9A16-7308A39DF9F0}" destId="{8B0AD0C0-F0DA-4CD8-830E-EAFA0FF514BC}" srcOrd="0" destOrd="0" presId="urn:microsoft.com/office/officeart/2018/2/layout/IconLabelList"/>
    <dgm:cxn modelId="{BB30E712-E17D-4AA7-910E-EAAA30DB5F64}" srcId="{6F11C001-387D-47EB-8836-FC2251EE97D7}" destId="{CCA71625-AFC1-4D25-B0A7-471A36B44F34}" srcOrd="2" destOrd="0" parTransId="{3E7E6C72-4627-4317-B283-FF221E7DD181}" sibTransId="{284D60C9-E586-4E66-82BE-41A1027273C3}"/>
    <dgm:cxn modelId="{21F03E17-A983-4ABF-875F-C62536A3060E}" type="presOf" srcId="{0BF80A23-CB2A-45B7-A40A-E226091A65A5}" destId="{FDECC617-7AE3-4710-8751-F0B74361111A}" srcOrd="0" destOrd="0" presId="urn:microsoft.com/office/officeart/2018/2/layout/IconLabelList"/>
    <dgm:cxn modelId="{F5387629-C386-4077-BB6A-B417E8792440}" srcId="{6F11C001-387D-47EB-8836-FC2251EE97D7}" destId="{F98B6FD3-C57E-4AE4-9D13-6F49B395A824}" srcOrd="6" destOrd="0" parTransId="{3B8872DC-CFDD-4182-863D-DBC5F0AB2D94}" sibTransId="{7006E93D-26C2-42C7-97B1-4128ED298EC1}"/>
    <dgm:cxn modelId="{D7D54030-84A0-4EDF-93AF-3EFB34DBD66C}" type="presOf" srcId="{6F11C001-387D-47EB-8836-FC2251EE97D7}" destId="{8C936764-676A-452B-A544-30C2B093AB34}" srcOrd="0" destOrd="0" presId="urn:microsoft.com/office/officeart/2018/2/layout/IconLabelList"/>
    <dgm:cxn modelId="{9A972238-898D-4253-B998-B3D4419049F1}" srcId="{6F11C001-387D-47EB-8836-FC2251EE97D7}" destId="{0BF80A23-CB2A-45B7-A40A-E226091A65A5}" srcOrd="0" destOrd="0" parTransId="{63887BDD-FEED-42D5-AEEB-4754CA354D9B}" sibTransId="{0506A75A-2BCF-49B4-98D6-6EE4AFA2B1F8}"/>
    <dgm:cxn modelId="{FB96895F-4E70-4D9E-9792-50CC44348684}" type="presOf" srcId="{8CF592F5-9CF1-42F5-BD8E-15FBEB463E01}" destId="{79812E8D-36BD-4CE4-BD46-478D38E6FF1C}" srcOrd="0" destOrd="0" presId="urn:microsoft.com/office/officeart/2018/2/layout/IconLabelList"/>
    <dgm:cxn modelId="{E37BA970-AEEF-4A15-9D1A-BCE467BB14A3}" srcId="{6F11C001-387D-47EB-8836-FC2251EE97D7}" destId="{697D171A-285B-44E9-9A16-7308A39DF9F0}" srcOrd="4" destOrd="0" parTransId="{68E18554-86BE-40C8-BBFF-49894CACD89B}" sibTransId="{8BDA7A37-1024-4987-9D3F-6BC2959E0391}"/>
    <dgm:cxn modelId="{FF39CE7D-275D-4AD9-A644-DFC575F11CB1}" srcId="{6F11C001-387D-47EB-8836-FC2251EE97D7}" destId="{8CF592F5-9CF1-42F5-BD8E-15FBEB463E01}" srcOrd="5" destOrd="0" parTransId="{C9725D59-9A2C-4F52-82BC-7EE5D5F1CC6C}" sibTransId="{D8A1A2B3-0002-4986-836F-71E84200C11E}"/>
    <dgm:cxn modelId="{C3C2DB80-9445-412A-9894-0D1BFEDAB474}" srcId="{6F11C001-387D-47EB-8836-FC2251EE97D7}" destId="{341D653F-5F93-4D66-8E61-DCD6D08F71A4}" srcOrd="1" destOrd="0" parTransId="{624AEDE4-F225-48DC-99F9-082448F2FB41}" sibTransId="{D9A3036F-60F8-4DAE-BBD7-ABA816604EEF}"/>
    <dgm:cxn modelId="{DDAE3582-9441-4E36-B9FD-98407B241C29}" type="presOf" srcId="{F98B6FD3-C57E-4AE4-9D13-6F49B395A824}" destId="{CB900CC7-0974-4434-9AE4-35685DAEC151}" srcOrd="0" destOrd="0" presId="urn:microsoft.com/office/officeart/2018/2/layout/IconLabelList"/>
    <dgm:cxn modelId="{9C25A3CE-15FD-483D-8944-87AAAD9B6F06}" type="presOf" srcId="{341D653F-5F93-4D66-8E61-DCD6D08F71A4}" destId="{AA2A7ED3-DCED-4061-A1C2-C6EC265F968F}" srcOrd="0" destOrd="0" presId="urn:microsoft.com/office/officeart/2018/2/layout/IconLabelList"/>
    <dgm:cxn modelId="{9BEB81CF-4536-47D7-97CC-4631012047DA}" type="presOf" srcId="{47C300B5-E30D-410D-8B4F-85F579D29AD3}" destId="{9971E734-71FB-4EDA-B3CB-DCEDD87B0749}" srcOrd="0" destOrd="0" presId="urn:microsoft.com/office/officeart/2018/2/layout/IconLabelList"/>
    <dgm:cxn modelId="{C76797EB-1EC9-48A3-A0A7-1A11F9E6B17A}" type="presOf" srcId="{CCA71625-AFC1-4D25-B0A7-471A36B44F34}" destId="{5ACFD5A1-99A3-418C-B629-9C83D7E08B74}" srcOrd="0" destOrd="0" presId="urn:microsoft.com/office/officeart/2018/2/layout/IconLabelList"/>
    <dgm:cxn modelId="{471AD5EF-3016-4816-AE2A-965C35CFAF48}" srcId="{6F11C001-387D-47EB-8836-FC2251EE97D7}" destId="{47C300B5-E30D-410D-8B4F-85F579D29AD3}" srcOrd="3" destOrd="0" parTransId="{1B50E2E3-9414-4888-A341-96D3063B3404}" sibTransId="{76D0661B-493E-4F9F-B6B9-9D2E0E5EDD28}"/>
    <dgm:cxn modelId="{0B5CA4E1-2390-4DE5-AF9E-1F5077860716}" type="presParOf" srcId="{8C936764-676A-452B-A544-30C2B093AB34}" destId="{E61E52F9-400D-441F-B2D8-C91658BFF925}" srcOrd="0" destOrd="0" presId="urn:microsoft.com/office/officeart/2018/2/layout/IconLabelList"/>
    <dgm:cxn modelId="{147F4CDC-96F1-46CF-BFD6-C4C559A1979F}" type="presParOf" srcId="{E61E52F9-400D-441F-B2D8-C91658BFF925}" destId="{74106C93-3D54-4689-BEF2-E62DF6F0233A}" srcOrd="0" destOrd="0" presId="urn:microsoft.com/office/officeart/2018/2/layout/IconLabelList"/>
    <dgm:cxn modelId="{AE0B8E91-BB55-4BD5-B431-0C21E4D462A7}" type="presParOf" srcId="{E61E52F9-400D-441F-B2D8-C91658BFF925}" destId="{FCC0A2DC-61EF-473C-AEAF-EE10943ED4AC}" srcOrd="1" destOrd="0" presId="urn:microsoft.com/office/officeart/2018/2/layout/IconLabelList"/>
    <dgm:cxn modelId="{16FB1C28-A504-4958-B605-17D5DF90DBC9}" type="presParOf" srcId="{E61E52F9-400D-441F-B2D8-C91658BFF925}" destId="{FDECC617-7AE3-4710-8751-F0B74361111A}" srcOrd="2" destOrd="0" presId="urn:microsoft.com/office/officeart/2018/2/layout/IconLabelList"/>
    <dgm:cxn modelId="{C5A40EED-0686-4D47-A2FB-A89D9F15FA67}" type="presParOf" srcId="{8C936764-676A-452B-A544-30C2B093AB34}" destId="{2623FEDE-4996-44C7-BE31-AF8A60C898A2}" srcOrd="1" destOrd="0" presId="urn:microsoft.com/office/officeart/2018/2/layout/IconLabelList"/>
    <dgm:cxn modelId="{FFAC1529-79BC-43E5-9A7D-03C97B430523}" type="presParOf" srcId="{8C936764-676A-452B-A544-30C2B093AB34}" destId="{AA93AB90-9F54-4400-B635-F2664ADB9CE4}" srcOrd="2" destOrd="0" presId="urn:microsoft.com/office/officeart/2018/2/layout/IconLabelList"/>
    <dgm:cxn modelId="{8B7DD51A-9136-40B7-9257-33ED2958A4D8}" type="presParOf" srcId="{AA93AB90-9F54-4400-B635-F2664ADB9CE4}" destId="{5224C7D9-01B7-490B-9ED0-80C581D6C873}" srcOrd="0" destOrd="0" presId="urn:microsoft.com/office/officeart/2018/2/layout/IconLabelList"/>
    <dgm:cxn modelId="{7F3D5AF1-3369-4384-B54F-4AF1DEAA8DAD}" type="presParOf" srcId="{AA93AB90-9F54-4400-B635-F2664ADB9CE4}" destId="{83560180-1DD6-4934-A918-0619F989A040}" srcOrd="1" destOrd="0" presId="urn:microsoft.com/office/officeart/2018/2/layout/IconLabelList"/>
    <dgm:cxn modelId="{CA6E974C-FA1B-4284-8C55-0F281498E610}" type="presParOf" srcId="{AA93AB90-9F54-4400-B635-F2664ADB9CE4}" destId="{AA2A7ED3-DCED-4061-A1C2-C6EC265F968F}" srcOrd="2" destOrd="0" presId="urn:microsoft.com/office/officeart/2018/2/layout/IconLabelList"/>
    <dgm:cxn modelId="{0EA11B2E-F202-49A5-861D-D170ABA37B26}" type="presParOf" srcId="{8C936764-676A-452B-A544-30C2B093AB34}" destId="{86F5AD7F-823F-4AB8-93B4-89DADD51DB5C}" srcOrd="3" destOrd="0" presId="urn:microsoft.com/office/officeart/2018/2/layout/IconLabelList"/>
    <dgm:cxn modelId="{2812B4B0-2632-4ADF-8A33-CA7626319978}" type="presParOf" srcId="{8C936764-676A-452B-A544-30C2B093AB34}" destId="{DD433068-DB2B-4524-8101-8FC82EC0E89F}" srcOrd="4" destOrd="0" presId="urn:microsoft.com/office/officeart/2018/2/layout/IconLabelList"/>
    <dgm:cxn modelId="{58D06F46-97AD-4740-9733-620F0EC24DE9}" type="presParOf" srcId="{DD433068-DB2B-4524-8101-8FC82EC0E89F}" destId="{C8A9DD3F-D42A-4E75-9840-D46CDBE3E412}" srcOrd="0" destOrd="0" presId="urn:microsoft.com/office/officeart/2018/2/layout/IconLabelList"/>
    <dgm:cxn modelId="{BF2B5AF8-CAD2-46D1-B372-487A3F6D618F}" type="presParOf" srcId="{DD433068-DB2B-4524-8101-8FC82EC0E89F}" destId="{4A90C938-9BC3-4572-98B6-0AB6B1E9F106}" srcOrd="1" destOrd="0" presId="urn:microsoft.com/office/officeart/2018/2/layout/IconLabelList"/>
    <dgm:cxn modelId="{17A6B236-3D86-4710-BA5C-43A9F477DA57}" type="presParOf" srcId="{DD433068-DB2B-4524-8101-8FC82EC0E89F}" destId="{5ACFD5A1-99A3-418C-B629-9C83D7E08B74}" srcOrd="2" destOrd="0" presId="urn:microsoft.com/office/officeart/2018/2/layout/IconLabelList"/>
    <dgm:cxn modelId="{8934CD4F-45A2-48EA-998E-F5B31FB51DD2}" type="presParOf" srcId="{8C936764-676A-452B-A544-30C2B093AB34}" destId="{F6C12191-BD12-495B-8948-EFED98D8138E}" srcOrd="5" destOrd="0" presId="urn:microsoft.com/office/officeart/2018/2/layout/IconLabelList"/>
    <dgm:cxn modelId="{41DB1F9F-37A5-431E-B13B-37D02D83282F}" type="presParOf" srcId="{8C936764-676A-452B-A544-30C2B093AB34}" destId="{091C3F5F-0450-4D3A-B71D-1383CF9AD289}" srcOrd="6" destOrd="0" presId="urn:microsoft.com/office/officeart/2018/2/layout/IconLabelList"/>
    <dgm:cxn modelId="{A06B6FEB-E86E-4D91-A674-F106766BA989}" type="presParOf" srcId="{091C3F5F-0450-4D3A-B71D-1383CF9AD289}" destId="{A8BA094B-07E7-4D46-B82B-A5B04BB9F162}" srcOrd="0" destOrd="0" presId="urn:microsoft.com/office/officeart/2018/2/layout/IconLabelList"/>
    <dgm:cxn modelId="{69364BEF-BA6B-4429-80BC-FF6FB3C0C57D}" type="presParOf" srcId="{091C3F5F-0450-4D3A-B71D-1383CF9AD289}" destId="{BAA3F947-36AC-42EB-BAEA-E530BA1A2814}" srcOrd="1" destOrd="0" presId="urn:microsoft.com/office/officeart/2018/2/layout/IconLabelList"/>
    <dgm:cxn modelId="{12FD45AA-2BFA-478C-93D5-67D0D036982B}" type="presParOf" srcId="{091C3F5F-0450-4D3A-B71D-1383CF9AD289}" destId="{9971E734-71FB-4EDA-B3CB-DCEDD87B0749}" srcOrd="2" destOrd="0" presId="urn:microsoft.com/office/officeart/2018/2/layout/IconLabelList"/>
    <dgm:cxn modelId="{4A567FCF-C6BF-415C-AE07-7E0C2A8033AF}" type="presParOf" srcId="{8C936764-676A-452B-A544-30C2B093AB34}" destId="{828D959A-DE09-4BB7-8872-E83472977EF5}" srcOrd="7" destOrd="0" presId="urn:microsoft.com/office/officeart/2018/2/layout/IconLabelList"/>
    <dgm:cxn modelId="{BE71CA3F-DDFD-4405-A13B-4175BE14E13D}" type="presParOf" srcId="{8C936764-676A-452B-A544-30C2B093AB34}" destId="{BBC62FEE-C488-4E5D-ACDE-FBBF379288B1}" srcOrd="8" destOrd="0" presId="urn:microsoft.com/office/officeart/2018/2/layout/IconLabelList"/>
    <dgm:cxn modelId="{EA833ADA-3CB1-4E5B-B7BB-3F90754AFB17}" type="presParOf" srcId="{BBC62FEE-C488-4E5D-ACDE-FBBF379288B1}" destId="{3E237373-A181-4050-81D8-D71A7C82D722}" srcOrd="0" destOrd="0" presId="urn:microsoft.com/office/officeart/2018/2/layout/IconLabelList"/>
    <dgm:cxn modelId="{FB119223-D54B-4DE2-ABDB-5FF72D90124C}" type="presParOf" srcId="{BBC62FEE-C488-4E5D-ACDE-FBBF379288B1}" destId="{5D641223-D11E-4364-BCC7-04094A82A3FF}" srcOrd="1" destOrd="0" presId="urn:microsoft.com/office/officeart/2018/2/layout/IconLabelList"/>
    <dgm:cxn modelId="{A1D94CC4-671C-49E4-A04B-898B539373A9}" type="presParOf" srcId="{BBC62FEE-C488-4E5D-ACDE-FBBF379288B1}" destId="{8B0AD0C0-F0DA-4CD8-830E-EAFA0FF514BC}" srcOrd="2" destOrd="0" presId="urn:microsoft.com/office/officeart/2018/2/layout/IconLabelList"/>
    <dgm:cxn modelId="{9BDF5122-FAA9-4159-B9FE-A7315F69EA82}" type="presParOf" srcId="{8C936764-676A-452B-A544-30C2B093AB34}" destId="{B8B2B4AD-9DC1-4F16-AB72-FF52541254B1}" srcOrd="9" destOrd="0" presId="urn:microsoft.com/office/officeart/2018/2/layout/IconLabelList"/>
    <dgm:cxn modelId="{D21983C9-DEE6-4504-B7EB-E328DAE511A3}" type="presParOf" srcId="{8C936764-676A-452B-A544-30C2B093AB34}" destId="{5C3177B9-DCFF-4D02-9A8F-E893F9B2340C}" srcOrd="10" destOrd="0" presId="urn:microsoft.com/office/officeart/2018/2/layout/IconLabelList"/>
    <dgm:cxn modelId="{F06A698E-47E8-4EE6-A946-9D15CF5037A1}" type="presParOf" srcId="{5C3177B9-DCFF-4D02-9A8F-E893F9B2340C}" destId="{92D90A46-1A39-4BC4-991D-659778C93F29}" srcOrd="0" destOrd="0" presId="urn:microsoft.com/office/officeart/2018/2/layout/IconLabelList"/>
    <dgm:cxn modelId="{E0B68AA7-6B9C-4CA1-ABCA-EF467F2EA40F}" type="presParOf" srcId="{5C3177B9-DCFF-4D02-9A8F-E893F9B2340C}" destId="{5454F3A7-2557-4645-BE34-9653FDB79544}" srcOrd="1" destOrd="0" presId="urn:microsoft.com/office/officeart/2018/2/layout/IconLabelList"/>
    <dgm:cxn modelId="{68D05C3E-DECA-4643-8175-DBED59282422}" type="presParOf" srcId="{5C3177B9-DCFF-4D02-9A8F-E893F9B2340C}" destId="{79812E8D-36BD-4CE4-BD46-478D38E6FF1C}" srcOrd="2" destOrd="0" presId="urn:microsoft.com/office/officeart/2018/2/layout/IconLabelList"/>
    <dgm:cxn modelId="{0EB87D0F-D9B2-4AFD-9021-2F5F022A6D46}" type="presParOf" srcId="{8C936764-676A-452B-A544-30C2B093AB34}" destId="{B6293E73-6FE2-487A-AFDB-08F08804D419}" srcOrd="11" destOrd="0" presId="urn:microsoft.com/office/officeart/2018/2/layout/IconLabelList"/>
    <dgm:cxn modelId="{3F6977FF-C9E6-423C-85FA-CBDAD53164F3}" type="presParOf" srcId="{8C936764-676A-452B-A544-30C2B093AB34}" destId="{1B99CCC1-EC4C-4555-904E-E62983E472D3}" srcOrd="12" destOrd="0" presId="urn:microsoft.com/office/officeart/2018/2/layout/IconLabelList"/>
    <dgm:cxn modelId="{3762BD31-7115-4FF1-8444-E8FA5D85DFE0}" type="presParOf" srcId="{1B99CCC1-EC4C-4555-904E-E62983E472D3}" destId="{8E143C6B-F20D-42FF-A569-8A50CE69DE58}" srcOrd="0" destOrd="0" presId="urn:microsoft.com/office/officeart/2018/2/layout/IconLabelList"/>
    <dgm:cxn modelId="{A69F80C4-2FA2-4F59-95D4-3596F38E5A14}" type="presParOf" srcId="{1B99CCC1-EC4C-4555-904E-E62983E472D3}" destId="{FB81CADF-5523-407E-8790-6939893726E2}" srcOrd="1" destOrd="0" presId="urn:microsoft.com/office/officeart/2018/2/layout/IconLabelList"/>
    <dgm:cxn modelId="{D0EEA180-7B52-4DC8-BCE8-954B0CA68CB8}" type="presParOf" srcId="{1B99CCC1-EC4C-4555-904E-E62983E472D3}" destId="{CB900CC7-0974-4434-9AE4-35685DAEC151}"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EFD381D-64F7-41F2-83CA-8535CB725635}" type="doc">
      <dgm:prSet loTypeId="urn:microsoft.com/office/officeart/2005/8/layout/default" loCatId="list" qsTypeId="urn:microsoft.com/office/officeart/2005/8/quickstyle/simple1" qsCatId="simple" csTypeId="urn:microsoft.com/office/officeart/2005/8/colors/colorful1" csCatId="colorful"/>
      <dgm:spPr/>
      <dgm:t>
        <a:bodyPr/>
        <a:lstStyle/>
        <a:p>
          <a:endParaRPr lang="en-US"/>
        </a:p>
      </dgm:t>
    </dgm:pt>
    <dgm:pt modelId="{6F7E720F-B2D2-461C-B21B-EFB9FEA89833}">
      <dgm:prSet/>
      <dgm:spPr/>
      <dgm:t>
        <a:bodyPr/>
        <a:lstStyle/>
        <a:p>
          <a:r>
            <a:rPr lang="en-US" b="0" i="0"/>
            <a:t>·  </a:t>
          </a:r>
          <a:r>
            <a:rPr lang="en-US" b="1" i="0"/>
            <a:t>User Authentication:</a:t>
          </a:r>
          <a:r>
            <a:rPr lang="en-US" b="0" i="0"/>
            <a:t> Secure login/logout for different roles.</a:t>
          </a:r>
          <a:endParaRPr lang="en-US"/>
        </a:p>
      </dgm:t>
    </dgm:pt>
    <dgm:pt modelId="{0D7F89C6-E3B8-4B63-82D3-AF07A6C76EFE}" type="parTrans" cxnId="{B7193359-8296-425D-910F-DDC31FC2DD76}">
      <dgm:prSet/>
      <dgm:spPr/>
      <dgm:t>
        <a:bodyPr/>
        <a:lstStyle/>
        <a:p>
          <a:endParaRPr lang="en-US"/>
        </a:p>
      </dgm:t>
    </dgm:pt>
    <dgm:pt modelId="{37AE476C-EC91-47DE-9CC4-437F8E901CC4}" type="sibTrans" cxnId="{B7193359-8296-425D-910F-DDC31FC2DD76}">
      <dgm:prSet/>
      <dgm:spPr/>
      <dgm:t>
        <a:bodyPr/>
        <a:lstStyle/>
        <a:p>
          <a:endParaRPr lang="en-US"/>
        </a:p>
      </dgm:t>
    </dgm:pt>
    <dgm:pt modelId="{32CAA581-BC5B-4148-B95D-7CCB6045BAD8}">
      <dgm:prSet/>
      <dgm:spPr/>
      <dgm:t>
        <a:bodyPr/>
        <a:lstStyle/>
        <a:p>
          <a:r>
            <a:rPr lang="en-US" b="0" i="0"/>
            <a:t>·  </a:t>
          </a:r>
          <a:r>
            <a:rPr lang="en-US" b="1" i="0"/>
            <a:t>Product Management:</a:t>
          </a:r>
          <a:r>
            <a:rPr lang="en-US" b="0" i="0"/>
            <a:t> Adding,editing, and deleting clothing items (size, color, brand).</a:t>
          </a:r>
          <a:endParaRPr lang="en-US"/>
        </a:p>
      </dgm:t>
    </dgm:pt>
    <dgm:pt modelId="{BFCCCAFD-8CCE-490F-930B-D19630EB82C4}" type="parTrans" cxnId="{194F39FD-12A7-44F2-87FC-9D3CDDDCD60D}">
      <dgm:prSet/>
      <dgm:spPr/>
      <dgm:t>
        <a:bodyPr/>
        <a:lstStyle/>
        <a:p>
          <a:endParaRPr lang="en-US"/>
        </a:p>
      </dgm:t>
    </dgm:pt>
    <dgm:pt modelId="{98127A7F-6356-4827-9D46-5C31B8DD65EE}" type="sibTrans" cxnId="{194F39FD-12A7-44F2-87FC-9D3CDDDCD60D}">
      <dgm:prSet/>
      <dgm:spPr/>
      <dgm:t>
        <a:bodyPr/>
        <a:lstStyle/>
        <a:p>
          <a:endParaRPr lang="en-US"/>
        </a:p>
      </dgm:t>
    </dgm:pt>
    <dgm:pt modelId="{DCD23D93-F141-4C9F-82FB-2258AF929DBA}">
      <dgm:prSet/>
      <dgm:spPr/>
      <dgm:t>
        <a:bodyPr/>
        <a:lstStyle/>
        <a:p>
          <a:r>
            <a:rPr lang="en-US" b="0" i="0"/>
            <a:t>·  </a:t>
          </a:r>
          <a:r>
            <a:rPr lang="en-US" b="1" i="0"/>
            <a:t>Transaction Processing:</a:t>
          </a:r>
          <a:r>
            <a:rPr lang="en-US" b="0" i="0"/>
            <a:t> Scanning items, applying discounts, and generating receipts.</a:t>
          </a:r>
          <a:endParaRPr lang="en-US"/>
        </a:p>
      </dgm:t>
    </dgm:pt>
    <dgm:pt modelId="{179DAAFB-ABDA-4DCE-A546-BDC3663A8010}" type="parTrans" cxnId="{AA1C2C2C-5730-4D77-802D-40FBDE661295}">
      <dgm:prSet/>
      <dgm:spPr/>
      <dgm:t>
        <a:bodyPr/>
        <a:lstStyle/>
        <a:p>
          <a:endParaRPr lang="en-US"/>
        </a:p>
      </dgm:t>
    </dgm:pt>
    <dgm:pt modelId="{4F1E96FC-E7A8-4DA9-8DB2-78CC9E958660}" type="sibTrans" cxnId="{AA1C2C2C-5730-4D77-802D-40FBDE661295}">
      <dgm:prSet/>
      <dgm:spPr/>
      <dgm:t>
        <a:bodyPr/>
        <a:lstStyle/>
        <a:p>
          <a:endParaRPr lang="en-US"/>
        </a:p>
      </dgm:t>
    </dgm:pt>
    <dgm:pt modelId="{523259EF-5747-4BD0-8713-FCF047947789}">
      <dgm:prSet/>
      <dgm:spPr/>
      <dgm:t>
        <a:bodyPr/>
        <a:lstStyle/>
        <a:p>
          <a:r>
            <a:rPr lang="en-US" b="0" i="0"/>
            <a:t>·  </a:t>
          </a:r>
          <a:r>
            <a:rPr lang="en-US" b="1" i="0"/>
            <a:t>Inventory Monitoring:</a:t>
          </a:r>
          <a:r>
            <a:rPr lang="en-US" b="0" i="0"/>
            <a:t> Low-stock alerts and automatic stock deduction upon sale.</a:t>
          </a:r>
          <a:endParaRPr lang="en-US"/>
        </a:p>
      </dgm:t>
    </dgm:pt>
    <dgm:pt modelId="{6683C2BD-EBB3-4042-B647-7ED0B6282450}" type="parTrans" cxnId="{D40B2753-012E-40D2-AA2B-2E7B85A2C2D6}">
      <dgm:prSet/>
      <dgm:spPr/>
      <dgm:t>
        <a:bodyPr/>
        <a:lstStyle/>
        <a:p>
          <a:endParaRPr lang="en-US"/>
        </a:p>
      </dgm:t>
    </dgm:pt>
    <dgm:pt modelId="{C993E5B0-0013-49A8-856D-DF13C7472F5C}" type="sibTrans" cxnId="{D40B2753-012E-40D2-AA2B-2E7B85A2C2D6}">
      <dgm:prSet/>
      <dgm:spPr/>
      <dgm:t>
        <a:bodyPr/>
        <a:lstStyle/>
        <a:p>
          <a:endParaRPr lang="en-US"/>
        </a:p>
      </dgm:t>
    </dgm:pt>
    <dgm:pt modelId="{6A0F85E7-2203-4BC0-8B49-75ABEDDBFADF}">
      <dgm:prSet/>
      <dgm:spPr/>
      <dgm:t>
        <a:bodyPr/>
        <a:lstStyle/>
        <a:p>
          <a:r>
            <a:rPr lang="en-US" b="0" i="0"/>
            <a:t>·  </a:t>
          </a:r>
          <a:r>
            <a:rPr lang="en-US" b="1" i="0"/>
            <a:t>Reporting &amp; Analytics:</a:t>
          </a:r>
          <a:r>
            <a:rPr lang="en-US" b="0" i="0"/>
            <a:t> Daily/monthly sales summaries and profit tracking.</a:t>
          </a:r>
          <a:endParaRPr lang="en-US"/>
        </a:p>
      </dgm:t>
    </dgm:pt>
    <dgm:pt modelId="{4231E4C6-1D3A-42E7-ABFC-1CE896476619}" type="parTrans" cxnId="{EFDE4AA1-D517-4B43-B279-D6B845BD0D20}">
      <dgm:prSet/>
      <dgm:spPr/>
      <dgm:t>
        <a:bodyPr/>
        <a:lstStyle/>
        <a:p>
          <a:endParaRPr lang="en-US"/>
        </a:p>
      </dgm:t>
    </dgm:pt>
    <dgm:pt modelId="{E4C3AE7B-1330-4DC5-ACAB-5A7F0096956E}" type="sibTrans" cxnId="{EFDE4AA1-D517-4B43-B279-D6B845BD0D20}">
      <dgm:prSet/>
      <dgm:spPr/>
      <dgm:t>
        <a:bodyPr/>
        <a:lstStyle/>
        <a:p>
          <a:endParaRPr lang="en-US"/>
        </a:p>
      </dgm:t>
    </dgm:pt>
    <dgm:pt modelId="{A89C6B14-294B-49A3-9FF3-AEB35C94CB60}">
      <dgm:prSet/>
      <dgm:spPr/>
      <dgm:t>
        <a:bodyPr/>
        <a:lstStyle/>
        <a:p>
          <a:r>
            <a:rPr lang="en-US" b="1" i="0"/>
            <a:t>Handling Returns and Exchanges -</a:t>
          </a:r>
          <a:r>
            <a:rPr lang="en-US" b="0" i="0"/>
            <a:t>Return of damaged goods </a:t>
          </a:r>
          <a:endParaRPr lang="en-US"/>
        </a:p>
      </dgm:t>
    </dgm:pt>
    <dgm:pt modelId="{D7802EF3-5828-4DCA-9EDA-D5748C0F2400}" type="parTrans" cxnId="{DFE90E97-036B-4959-88C2-CA1003044839}">
      <dgm:prSet/>
      <dgm:spPr/>
      <dgm:t>
        <a:bodyPr/>
        <a:lstStyle/>
        <a:p>
          <a:endParaRPr lang="en-US"/>
        </a:p>
      </dgm:t>
    </dgm:pt>
    <dgm:pt modelId="{8BE8924D-BDA3-43C2-9414-A408A5B472B2}" type="sibTrans" cxnId="{DFE90E97-036B-4959-88C2-CA1003044839}">
      <dgm:prSet/>
      <dgm:spPr/>
      <dgm:t>
        <a:bodyPr/>
        <a:lstStyle/>
        <a:p>
          <a:endParaRPr lang="en-US"/>
        </a:p>
      </dgm:t>
    </dgm:pt>
    <dgm:pt modelId="{9A74FA10-A18F-4978-8DA1-F82AE64EB329}" type="pres">
      <dgm:prSet presAssocID="{8EFD381D-64F7-41F2-83CA-8535CB725635}" presName="diagram" presStyleCnt="0">
        <dgm:presLayoutVars>
          <dgm:dir/>
          <dgm:resizeHandles val="exact"/>
        </dgm:presLayoutVars>
      </dgm:prSet>
      <dgm:spPr/>
    </dgm:pt>
    <dgm:pt modelId="{9F6A1850-EC9A-4C73-9819-2880F569F20B}" type="pres">
      <dgm:prSet presAssocID="{6F7E720F-B2D2-461C-B21B-EFB9FEA89833}" presName="node" presStyleLbl="node1" presStyleIdx="0" presStyleCnt="6">
        <dgm:presLayoutVars>
          <dgm:bulletEnabled val="1"/>
        </dgm:presLayoutVars>
      </dgm:prSet>
      <dgm:spPr/>
    </dgm:pt>
    <dgm:pt modelId="{377282A4-65A7-4512-9101-B2683A0A4FC8}" type="pres">
      <dgm:prSet presAssocID="{37AE476C-EC91-47DE-9CC4-437F8E901CC4}" presName="sibTrans" presStyleCnt="0"/>
      <dgm:spPr/>
    </dgm:pt>
    <dgm:pt modelId="{E8DCBEE9-1217-41CE-8E8D-BC72CB90C288}" type="pres">
      <dgm:prSet presAssocID="{32CAA581-BC5B-4148-B95D-7CCB6045BAD8}" presName="node" presStyleLbl="node1" presStyleIdx="1" presStyleCnt="6">
        <dgm:presLayoutVars>
          <dgm:bulletEnabled val="1"/>
        </dgm:presLayoutVars>
      </dgm:prSet>
      <dgm:spPr/>
    </dgm:pt>
    <dgm:pt modelId="{E413FEF7-CB88-4947-AFF7-DCE2853AE29D}" type="pres">
      <dgm:prSet presAssocID="{98127A7F-6356-4827-9D46-5C31B8DD65EE}" presName="sibTrans" presStyleCnt="0"/>
      <dgm:spPr/>
    </dgm:pt>
    <dgm:pt modelId="{6A5F9081-488E-4505-8E15-3820385B9246}" type="pres">
      <dgm:prSet presAssocID="{DCD23D93-F141-4C9F-82FB-2258AF929DBA}" presName="node" presStyleLbl="node1" presStyleIdx="2" presStyleCnt="6">
        <dgm:presLayoutVars>
          <dgm:bulletEnabled val="1"/>
        </dgm:presLayoutVars>
      </dgm:prSet>
      <dgm:spPr/>
    </dgm:pt>
    <dgm:pt modelId="{01780F8D-2FE5-4AE2-ADBB-9304FFB75E37}" type="pres">
      <dgm:prSet presAssocID="{4F1E96FC-E7A8-4DA9-8DB2-78CC9E958660}" presName="sibTrans" presStyleCnt="0"/>
      <dgm:spPr/>
    </dgm:pt>
    <dgm:pt modelId="{D9233C70-748B-492E-B553-BD77063FF89D}" type="pres">
      <dgm:prSet presAssocID="{523259EF-5747-4BD0-8713-FCF047947789}" presName="node" presStyleLbl="node1" presStyleIdx="3" presStyleCnt="6">
        <dgm:presLayoutVars>
          <dgm:bulletEnabled val="1"/>
        </dgm:presLayoutVars>
      </dgm:prSet>
      <dgm:spPr/>
    </dgm:pt>
    <dgm:pt modelId="{0D531223-B140-4F10-B2E6-A3DA0E511A5C}" type="pres">
      <dgm:prSet presAssocID="{C993E5B0-0013-49A8-856D-DF13C7472F5C}" presName="sibTrans" presStyleCnt="0"/>
      <dgm:spPr/>
    </dgm:pt>
    <dgm:pt modelId="{D4DED7C7-EAA1-4AE6-8B29-C741EFE9FD1D}" type="pres">
      <dgm:prSet presAssocID="{6A0F85E7-2203-4BC0-8B49-75ABEDDBFADF}" presName="node" presStyleLbl="node1" presStyleIdx="4" presStyleCnt="6">
        <dgm:presLayoutVars>
          <dgm:bulletEnabled val="1"/>
        </dgm:presLayoutVars>
      </dgm:prSet>
      <dgm:spPr/>
    </dgm:pt>
    <dgm:pt modelId="{E5AD9268-F394-4F56-A5E4-AE6B059E96BB}" type="pres">
      <dgm:prSet presAssocID="{E4C3AE7B-1330-4DC5-ACAB-5A7F0096956E}" presName="sibTrans" presStyleCnt="0"/>
      <dgm:spPr/>
    </dgm:pt>
    <dgm:pt modelId="{0B2992AF-19B9-47B0-B3E6-72E9D930101A}" type="pres">
      <dgm:prSet presAssocID="{A89C6B14-294B-49A3-9FF3-AEB35C94CB60}" presName="node" presStyleLbl="node1" presStyleIdx="5" presStyleCnt="6">
        <dgm:presLayoutVars>
          <dgm:bulletEnabled val="1"/>
        </dgm:presLayoutVars>
      </dgm:prSet>
      <dgm:spPr/>
    </dgm:pt>
  </dgm:ptLst>
  <dgm:cxnLst>
    <dgm:cxn modelId="{12A90913-8609-4E8F-BD22-F45EBF0FDA67}" type="presOf" srcId="{6A0F85E7-2203-4BC0-8B49-75ABEDDBFADF}" destId="{D4DED7C7-EAA1-4AE6-8B29-C741EFE9FD1D}" srcOrd="0" destOrd="0" presId="urn:microsoft.com/office/officeart/2005/8/layout/default"/>
    <dgm:cxn modelId="{AA1C2C2C-5730-4D77-802D-40FBDE661295}" srcId="{8EFD381D-64F7-41F2-83CA-8535CB725635}" destId="{DCD23D93-F141-4C9F-82FB-2258AF929DBA}" srcOrd="2" destOrd="0" parTransId="{179DAAFB-ABDA-4DCE-A546-BDC3663A8010}" sibTransId="{4F1E96FC-E7A8-4DA9-8DB2-78CC9E958660}"/>
    <dgm:cxn modelId="{C1EE784C-FA4C-4EED-90DB-2667AC310BDC}" type="presOf" srcId="{A89C6B14-294B-49A3-9FF3-AEB35C94CB60}" destId="{0B2992AF-19B9-47B0-B3E6-72E9D930101A}" srcOrd="0" destOrd="0" presId="urn:microsoft.com/office/officeart/2005/8/layout/default"/>
    <dgm:cxn modelId="{D40B2753-012E-40D2-AA2B-2E7B85A2C2D6}" srcId="{8EFD381D-64F7-41F2-83CA-8535CB725635}" destId="{523259EF-5747-4BD0-8713-FCF047947789}" srcOrd="3" destOrd="0" parTransId="{6683C2BD-EBB3-4042-B647-7ED0B6282450}" sibTransId="{C993E5B0-0013-49A8-856D-DF13C7472F5C}"/>
    <dgm:cxn modelId="{B7193359-8296-425D-910F-DDC31FC2DD76}" srcId="{8EFD381D-64F7-41F2-83CA-8535CB725635}" destId="{6F7E720F-B2D2-461C-B21B-EFB9FEA89833}" srcOrd="0" destOrd="0" parTransId="{0D7F89C6-E3B8-4B63-82D3-AF07A6C76EFE}" sibTransId="{37AE476C-EC91-47DE-9CC4-437F8E901CC4}"/>
    <dgm:cxn modelId="{6430AB7C-717D-4AC4-B56A-929BB4EDE053}" type="presOf" srcId="{8EFD381D-64F7-41F2-83CA-8535CB725635}" destId="{9A74FA10-A18F-4978-8DA1-F82AE64EB329}" srcOrd="0" destOrd="0" presId="urn:microsoft.com/office/officeart/2005/8/layout/default"/>
    <dgm:cxn modelId="{D97D1A8B-4936-45CB-8BEA-AB8FD6B9CE0C}" type="presOf" srcId="{6F7E720F-B2D2-461C-B21B-EFB9FEA89833}" destId="{9F6A1850-EC9A-4C73-9819-2880F569F20B}" srcOrd="0" destOrd="0" presId="urn:microsoft.com/office/officeart/2005/8/layout/default"/>
    <dgm:cxn modelId="{DFE90E97-036B-4959-88C2-CA1003044839}" srcId="{8EFD381D-64F7-41F2-83CA-8535CB725635}" destId="{A89C6B14-294B-49A3-9FF3-AEB35C94CB60}" srcOrd="5" destOrd="0" parTransId="{D7802EF3-5828-4DCA-9EDA-D5748C0F2400}" sibTransId="{8BE8924D-BDA3-43C2-9414-A408A5B472B2}"/>
    <dgm:cxn modelId="{EFDE4AA1-D517-4B43-B279-D6B845BD0D20}" srcId="{8EFD381D-64F7-41F2-83CA-8535CB725635}" destId="{6A0F85E7-2203-4BC0-8B49-75ABEDDBFADF}" srcOrd="4" destOrd="0" parTransId="{4231E4C6-1D3A-42E7-ABFC-1CE896476619}" sibTransId="{E4C3AE7B-1330-4DC5-ACAB-5A7F0096956E}"/>
    <dgm:cxn modelId="{23A1DDA1-281F-4150-B0E9-1B0AA0ABADF1}" type="presOf" srcId="{32CAA581-BC5B-4148-B95D-7CCB6045BAD8}" destId="{E8DCBEE9-1217-41CE-8E8D-BC72CB90C288}" srcOrd="0" destOrd="0" presId="urn:microsoft.com/office/officeart/2005/8/layout/default"/>
    <dgm:cxn modelId="{A8E195E5-4B84-47E5-819B-2BF68434C5D2}" type="presOf" srcId="{DCD23D93-F141-4C9F-82FB-2258AF929DBA}" destId="{6A5F9081-488E-4505-8E15-3820385B9246}" srcOrd="0" destOrd="0" presId="urn:microsoft.com/office/officeart/2005/8/layout/default"/>
    <dgm:cxn modelId="{58595CEA-7138-4AA4-A9C2-8AEC8667B84C}" type="presOf" srcId="{523259EF-5747-4BD0-8713-FCF047947789}" destId="{D9233C70-748B-492E-B553-BD77063FF89D}" srcOrd="0" destOrd="0" presId="urn:microsoft.com/office/officeart/2005/8/layout/default"/>
    <dgm:cxn modelId="{194F39FD-12A7-44F2-87FC-9D3CDDDCD60D}" srcId="{8EFD381D-64F7-41F2-83CA-8535CB725635}" destId="{32CAA581-BC5B-4148-B95D-7CCB6045BAD8}" srcOrd="1" destOrd="0" parTransId="{BFCCCAFD-8CCE-490F-930B-D19630EB82C4}" sibTransId="{98127A7F-6356-4827-9D46-5C31B8DD65EE}"/>
    <dgm:cxn modelId="{A811AB38-B07D-46D8-9C83-9CB5E1F1B078}" type="presParOf" srcId="{9A74FA10-A18F-4978-8DA1-F82AE64EB329}" destId="{9F6A1850-EC9A-4C73-9819-2880F569F20B}" srcOrd="0" destOrd="0" presId="urn:microsoft.com/office/officeart/2005/8/layout/default"/>
    <dgm:cxn modelId="{6E1A24CB-F87D-417F-A25E-FEBD429870CD}" type="presParOf" srcId="{9A74FA10-A18F-4978-8DA1-F82AE64EB329}" destId="{377282A4-65A7-4512-9101-B2683A0A4FC8}" srcOrd="1" destOrd="0" presId="urn:microsoft.com/office/officeart/2005/8/layout/default"/>
    <dgm:cxn modelId="{30D07D0E-31EA-4941-98CB-C0D773D70E03}" type="presParOf" srcId="{9A74FA10-A18F-4978-8DA1-F82AE64EB329}" destId="{E8DCBEE9-1217-41CE-8E8D-BC72CB90C288}" srcOrd="2" destOrd="0" presId="urn:microsoft.com/office/officeart/2005/8/layout/default"/>
    <dgm:cxn modelId="{C32C72E4-ED95-482E-A70B-F9A4207C16EA}" type="presParOf" srcId="{9A74FA10-A18F-4978-8DA1-F82AE64EB329}" destId="{E413FEF7-CB88-4947-AFF7-DCE2853AE29D}" srcOrd="3" destOrd="0" presId="urn:microsoft.com/office/officeart/2005/8/layout/default"/>
    <dgm:cxn modelId="{93A5132D-E1E6-4E47-8C20-CB08152A67A7}" type="presParOf" srcId="{9A74FA10-A18F-4978-8DA1-F82AE64EB329}" destId="{6A5F9081-488E-4505-8E15-3820385B9246}" srcOrd="4" destOrd="0" presId="urn:microsoft.com/office/officeart/2005/8/layout/default"/>
    <dgm:cxn modelId="{B185ADAF-8187-4686-997F-597CACB4A88F}" type="presParOf" srcId="{9A74FA10-A18F-4978-8DA1-F82AE64EB329}" destId="{01780F8D-2FE5-4AE2-ADBB-9304FFB75E37}" srcOrd="5" destOrd="0" presId="urn:microsoft.com/office/officeart/2005/8/layout/default"/>
    <dgm:cxn modelId="{485D885D-8228-4B47-9ADA-C43540A3229C}" type="presParOf" srcId="{9A74FA10-A18F-4978-8DA1-F82AE64EB329}" destId="{D9233C70-748B-492E-B553-BD77063FF89D}" srcOrd="6" destOrd="0" presId="urn:microsoft.com/office/officeart/2005/8/layout/default"/>
    <dgm:cxn modelId="{389B3FA2-DE44-4A3D-B691-420727826616}" type="presParOf" srcId="{9A74FA10-A18F-4978-8DA1-F82AE64EB329}" destId="{0D531223-B140-4F10-B2E6-A3DA0E511A5C}" srcOrd="7" destOrd="0" presId="urn:microsoft.com/office/officeart/2005/8/layout/default"/>
    <dgm:cxn modelId="{DEA5476D-D1C7-40B3-B637-2D7F499A91B9}" type="presParOf" srcId="{9A74FA10-A18F-4978-8DA1-F82AE64EB329}" destId="{D4DED7C7-EAA1-4AE6-8B29-C741EFE9FD1D}" srcOrd="8" destOrd="0" presId="urn:microsoft.com/office/officeart/2005/8/layout/default"/>
    <dgm:cxn modelId="{5E0B7B76-004E-4E54-92B0-24A2522B70DD}" type="presParOf" srcId="{9A74FA10-A18F-4978-8DA1-F82AE64EB329}" destId="{E5AD9268-F394-4F56-A5E4-AE6B059E96BB}" srcOrd="9" destOrd="0" presId="urn:microsoft.com/office/officeart/2005/8/layout/default"/>
    <dgm:cxn modelId="{DD71C371-DF38-407F-B5DC-D629E040E459}" type="presParOf" srcId="{9A74FA10-A18F-4978-8DA1-F82AE64EB329}" destId="{0B2992AF-19B9-47B0-B3E6-72E9D930101A}" srcOrd="1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2510BA-BA32-4FFC-938E-8387D30A46B3}">
      <dsp:nvSpPr>
        <dsp:cNvPr id="0" name=""/>
        <dsp:cNvSpPr/>
      </dsp:nvSpPr>
      <dsp:spPr>
        <a:xfrm>
          <a:off x="8265" y="46969"/>
          <a:ext cx="2470479" cy="1482287"/>
        </a:xfrm>
        <a:prstGeom prst="roundRect">
          <a:avLst>
            <a:gd name="adj" fmla="val 10000"/>
          </a:avLst>
        </a:prstGeom>
        <a:solidFill>
          <a:schemeClr val="accent5">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b="1" kern="1200"/>
            <a:t>Coordinator – Shumba.N.David</a:t>
          </a:r>
          <a:endParaRPr lang="en-US" sz="2100" kern="1200"/>
        </a:p>
      </dsp:txBody>
      <dsp:txXfrm>
        <a:off x="51680" y="90384"/>
        <a:ext cx="2383649" cy="1395457"/>
      </dsp:txXfrm>
    </dsp:sp>
    <dsp:sp modelId="{799E9D9F-20E3-4FD7-88BE-F199E6BA4554}">
      <dsp:nvSpPr>
        <dsp:cNvPr id="0" name=""/>
        <dsp:cNvSpPr/>
      </dsp:nvSpPr>
      <dsp:spPr>
        <a:xfrm>
          <a:off x="2696146" y="481773"/>
          <a:ext cx="523741" cy="612678"/>
        </a:xfrm>
        <a:prstGeom prst="rightArrow">
          <a:avLst>
            <a:gd name="adj1" fmla="val 60000"/>
            <a:gd name="adj2" fmla="val 5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US" sz="1700" kern="1200"/>
        </a:p>
      </dsp:txBody>
      <dsp:txXfrm>
        <a:off x="2696146" y="604309"/>
        <a:ext cx="366619" cy="367606"/>
      </dsp:txXfrm>
    </dsp:sp>
    <dsp:sp modelId="{1D1BE9BF-DAD1-4961-88A0-3BFB629BC39A}">
      <dsp:nvSpPr>
        <dsp:cNvPr id="0" name=""/>
        <dsp:cNvSpPr/>
      </dsp:nvSpPr>
      <dsp:spPr>
        <a:xfrm>
          <a:off x="3466936" y="46969"/>
          <a:ext cx="2470479" cy="1482287"/>
        </a:xfrm>
        <a:prstGeom prst="roundRect">
          <a:avLst>
            <a:gd name="adj" fmla="val 10000"/>
          </a:avLst>
        </a:prstGeom>
        <a:solidFill>
          <a:schemeClr val="accent5">
            <a:hueOff val="1559309"/>
            <a:satOff val="-1003"/>
            <a:lumOff val="686"/>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b="1" kern="1200"/>
            <a:t>Technical Lead -osterd </a:t>
          </a:r>
          <a:endParaRPr lang="en-US" sz="2100" kern="1200"/>
        </a:p>
      </dsp:txBody>
      <dsp:txXfrm>
        <a:off x="3510351" y="90384"/>
        <a:ext cx="2383649" cy="1395457"/>
      </dsp:txXfrm>
    </dsp:sp>
    <dsp:sp modelId="{D76869EC-3107-4631-BB4C-599210930BF8}">
      <dsp:nvSpPr>
        <dsp:cNvPr id="0" name=""/>
        <dsp:cNvSpPr/>
      </dsp:nvSpPr>
      <dsp:spPr>
        <a:xfrm>
          <a:off x="6154817" y="481773"/>
          <a:ext cx="523741" cy="612678"/>
        </a:xfrm>
        <a:prstGeom prst="rightArrow">
          <a:avLst>
            <a:gd name="adj1" fmla="val 60000"/>
            <a:gd name="adj2" fmla="val 50000"/>
          </a:avLst>
        </a:prstGeom>
        <a:solidFill>
          <a:schemeClr val="accent5">
            <a:hueOff val="2079079"/>
            <a:satOff val="-1338"/>
            <a:lumOff val="915"/>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US" sz="1700" kern="1200"/>
        </a:p>
      </dsp:txBody>
      <dsp:txXfrm>
        <a:off x="6154817" y="604309"/>
        <a:ext cx="366619" cy="367606"/>
      </dsp:txXfrm>
    </dsp:sp>
    <dsp:sp modelId="{271264D8-6DDA-4A20-BD07-01B624F62203}">
      <dsp:nvSpPr>
        <dsp:cNvPr id="0" name=""/>
        <dsp:cNvSpPr/>
      </dsp:nvSpPr>
      <dsp:spPr>
        <a:xfrm>
          <a:off x="6925607" y="46969"/>
          <a:ext cx="2470479" cy="1482287"/>
        </a:xfrm>
        <a:prstGeom prst="roundRect">
          <a:avLst>
            <a:gd name="adj" fmla="val 10000"/>
          </a:avLst>
        </a:prstGeom>
        <a:solidFill>
          <a:schemeClr val="accent5">
            <a:hueOff val="3118619"/>
            <a:satOff val="-2006"/>
            <a:lumOff val="1372"/>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b="1" kern="1200"/>
            <a:t>QA Lead-Vernon N. Longwani</a:t>
          </a:r>
          <a:endParaRPr lang="en-US" sz="2100" kern="1200"/>
        </a:p>
      </dsp:txBody>
      <dsp:txXfrm>
        <a:off x="6969022" y="90384"/>
        <a:ext cx="2383649" cy="1395457"/>
      </dsp:txXfrm>
    </dsp:sp>
    <dsp:sp modelId="{5B103A3A-5B35-46EA-A46B-418592CC337A}">
      <dsp:nvSpPr>
        <dsp:cNvPr id="0" name=""/>
        <dsp:cNvSpPr/>
      </dsp:nvSpPr>
      <dsp:spPr>
        <a:xfrm rot="5400000">
          <a:off x="7898976" y="1702190"/>
          <a:ext cx="523741" cy="612678"/>
        </a:xfrm>
        <a:prstGeom prst="rightArrow">
          <a:avLst>
            <a:gd name="adj1" fmla="val 60000"/>
            <a:gd name="adj2" fmla="val 50000"/>
          </a:avLst>
        </a:prstGeom>
        <a:solidFill>
          <a:schemeClr val="accent5">
            <a:hueOff val="4158159"/>
            <a:satOff val="-2675"/>
            <a:lumOff val="1829"/>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US" sz="1700" kern="1200"/>
        </a:p>
      </dsp:txBody>
      <dsp:txXfrm rot="-5400000">
        <a:off x="7977044" y="1746658"/>
        <a:ext cx="367606" cy="366619"/>
      </dsp:txXfrm>
    </dsp:sp>
    <dsp:sp modelId="{8DD579BC-DBD9-4105-B63A-2319778A6034}">
      <dsp:nvSpPr>
        <dsp:cNvPr id="0" name=""/>
        <dsp:cNvSpPr/>
      </dsp:nvSpPr>
      <dsp:spPr>
        <a:xfrm>
          <a:off x="6925607" y="2517448"/>
          <a:ext cx="2470479" cy="1482287"/>
        </a:xfrm>
        <a:prstGeom prst="roundRect">
          <a:avLst>
            <a:gd name="adj" fmla="val 10000"/>
          </a:avLst>
        </a:prstGeom>
        <a:solidFill>
          <a:schemeClr val="accent5">
            <a:hueOff val="4677928"/>
            <a:satOff val="-3010"/>
            <a:lumOff val="2058"/>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b="1" kern="1200" dirty="0"/>
            <a:t>Documentation Lead -Arthur</a:t>
          </a:r>
          <a:endParaRPr lang="en-US" sz="2100" kern="1200" dirty="0"/>
        </a:p>
      </dsp:txBody>
      <dsp:txXfrm>
        <a:off x="6969022" y="2560863"/>
        <a:ext cx="2383649" cy="1395457"/>
      </dsp:txXfrm>
    </dsp:sp>
    <dsp:sp modelId="{B2151243-6B2C-47CC-BC18-BFA5E6F7401E}">
      <dsp:nvSpPr>
        <dsp:cNvPr id="0" name=""/>
        <dsp:cNvSpPr/>
      </dsp:nvSpPr>
      <dsp:spPr>
        <a:xfrm rot="10800000">
          <a:off x="6184463" y="2952253"/>
          <a:ext cx="523741" cy="612678"/>
        </a:xfrm>
        <a:prstGeom prst="rightArrow">
          <a:avLst>
            <a:gd name="adj1" fmla="val 60000"/>
            <a:gd name="adj2" fmla="val 50000"/>
          </a:avLst>
        </a:prstGeom>
        <a:solidFill>
          <a:schemeClr val="accent5">
            <a:hueOff val="6237238"/>
            <a:satOff val="-4013"/>
            <a:lumOff val="2744"/>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US" sz="1700" kern="1200"/>
        </a:p>
      </dsp:txBody>
      <dsp:txXfrm rot="10800000">
        <a:off x="6341585" y="3074789"/>
        <a:ext cx="366619" cy="367606"/>
      </dsp:txXfrm>
    </dsp:sp>
    <dsp:sp modelId="{3EEBE888-5B73-4B79-A251-9A97C40ACB90}">
      <dsp:nvSpPr>
        <dsp:cNvPr id="0" name=""/>
        <dsp:cNvSpPr/>
      </dsp:nvSpPr>
      <dsp:spPr>
        <a:xfrm>
          <a:off x="3466936" y="2517448"/>
          <a:ext cx="2470479" cy="1482287"/>
        </a:xfrm>
        <a:prstGeom prst="roundRect">
          <a:avLst>
            <a:gd name="adj" fmla="val 10000"/>
          </a:avLst>
        </a:prstGeom>
        <a:solidFill>
          <a:schemeClr val="accent5">
            <a:hueOff val="6237238"/>
            <a:satOff val="-4013"/>
            <a:lumOff val="2744"/>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b="1" kern="1200" dirty="0"/>
            <a:t>Presenter _Emmanuel Banda</a:t>
          </a:r>
          <a:endParaRPr lang="en-US" sz="2100" kern="1200" dirty="0"/>
        </a:p>
      </dsp:txBody>
      <dsp:txXfrm>
        <a:off x="3510351" y="2560863"/>
        <a:ext cx="2383649" cy="139545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4106C93-3D54-4689-BEF2-E62DF6F0233A}">
      <dsp:nvSpPr>
        <dsp:cNvPr id="0" name=""/>
        <dsp:cNvSpPr/>
      </dsp:nvSpPr>
      <dsp:spPr>
        <a:xfrm>
          <a:off x="378593" y="807043"/>
          <a:ext cx="608291" cy="60829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FDECC617-7AE3-4710-8751-F0B74361111A}">
      <dsp:nvSpPr>
        <dsp:cNvPr id="0" name=""/>
        <dsp:cNvSpPr/>
      </dsp:nvSpPr>
      <dsp:spPr>
        <a:xfrm>
          <a:off x="6859" y="1683872"/>
          <a:ext cx="1351757" cy="9133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t>Business Opportunity:</a:t>
          </a:r>
        </a:p>
      </dsp:txBody>
      <dsp:txXfrm>
        <a:off x="6859" y="1683872"/>
        <a:ext cx="1351757" cy="913360"/>
      </dsp:txXfrm>
    </dsp:sp>
    <dsp:sp modelId="{5224C7D9-01B7-490B-9ED0-80C581D6C873}">
      <dsp:nvSpPr>
        <dsp:cNvPr id="0" name=""/>
        <dsp:cNvSpPr/>
      </dsp:nvSpPr>
      <dsp:spPr>
        <a:xfrm>
          <a:off x="1966908" y="807043"/>
          <a:ext cx="608291" cy="60829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A2A7ED3-DCED-4061-A1C2-C6EC265F968F}">
      <dsp:nvSpPr>
        <dsp:cNvPr id="0" name=""/>
        <dsp:cNvSpPr/>
      </dsp:nvSpPr>
      <dsp:spPr>
        <a:xfrm>
          <a:off x="1595175" y="1683872"/>
          <a:ext cx="1351757" cy="9133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t>- Automate retail operations</a:t>
          </a:r>
          <a:br>
            <a:rPr lang="en-US" sz="1100" kern="1200"/>
          </a:br>
          <a:r>
            <a:rPr lang="en-US" sz="1100" kern="1200"/>
            <a:t>- Improve inventory accuracy</a:t>
          </a:r>
          <a:br>
            <a:rPr lang="en-US" sz="1100" kern="1200"/>
          </a:br>
          <a:r>
            <a:rPr lang="en-US" sz="1100" kern="1200"/>
            <a:t>- Increase profitability</a:t>
          </a:r>
          <a:br>
            <a:rPr lang="en-US" sz="1100" kern="1200"/>
          </a:br>
          <a:r>
            <a:rPr lang="en-US" sz="1100" kern="1200"/>
            <a:t>- Enhance customer service</a:t>
          </a:r>
        </a:p>
      </dsp:txBody>
      <dsp:txXfrm>
        <a:off x="1595175" y="1683872"/>
        <a:ext cx="1351757" cy="913360"/>
      </dsp:txXfrm>
    </dsp:sp>
    <dsp:sp modelId="{C8A9DD3F-D42A-4E75-9840-D46CDBE3E412}">
      <dsp:nvSpPr>
        <dsp:cNvPr id="0" name=""/>
        <dsp:cNvSpPr/>
      </dsp:nvSpPr>
      <dsp:spPr>
        <a:xfrm>
          <a:off x="3555224" y="807043"/>
          <a:ext cx="608291" cy="60829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5ACFD5A1-99A3-418C-B629-9C83D7E08B74}">
      <dsp:nvSpPr>
        <dsp:cNvPr id="0" name=""/>
        <dsp:cNvSpPr/>
      </dsp:nvSpPr>
      <dsp:spPr>
        <a:xfrm>
          <a:off x="3183490" y="1683872"/>
          <a:ext cx="1351757" cy="9133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t>Expected Benefits:</a:t>
          </a:r>
        </a:p>
      </dsp:txBody>
      <dsp:txXfrm>
        <a:off x="3183490" y="1683872"/>
        <a:ext cx="1351757" cy="913360"/>
      </dsp:txXfrm>
    </dsp:sp>
    <dsp:sp modelId="{A8BA094B-07E7-4D46-B82B-A5B04BB9F162}">
      <dsp:nvSpPr>
        <dsp:cNvPr id="0" name=""/>
        <dsp:cNvSpPr/>
      </dsp:nvSpPr>
      <dsp:spPr>
        <a:xfrm>
          <a:off x="5143539" y="807043"/>
          <a:ext cx="608291" cy="60829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9971E734-71FB-4EDA-B3CB-DCEDD87B0749}">
      <dsp:nvSpPr>
        <dsp:cNvPr id="0" name=""/>
        <dsp:cNvSpPr/>
      </dsp:nvSpPr>
      <dsp:spPr>
        <a:xfrm>
          <a:off x="4771806" y="1683872"/>
          <a:ext cx="1351757" cy="9133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t>- Real-time inventory control</a:t>
          </a:r>
          <a:br>
            <a:rPr lang="en-US" sz="1100" kern="1200"/>
          </a:br>
          <a:r>
            <a:rPr lang="en-US" sz="1100" kern="1200"/>
            <a:t>- Faster billing process</a:t>
          </a:r>
          <a:br>
            <a:rPr lang="en-US" sz="1100" kern="1200"/>
          </a:br>
          <a:r>
            <a:rPr lang="en-US" sz="1100" kern="1200"/>
            <a:t>- Accurate financial reports</a:t>
          </a:r>
          <a:br>
            <a:rPr lang="en-US" sz="1100" kern="1200"/>
          </a:br>
          <a:r>
            <a:rPr lang="en-US" sz="1100" kern="1200"/>
            <a:t>- Reduced human errors</a:t>
          </a:r>
          <a:br>
            <a:rPr lang="en-US" sz="1100" kern="1200"/>
          </a:br>
          <a:r>
            <a:rPr lang="en-US" sz="1100" kern="1200"/>
            <a:t>- Secure role-based access control</a:t>
          </a:r>
        </a:p>
      </dsp:txBody>
      <dsp:txXfrm>
        <a:off x="4771806" y="1683872"/>
        <a:ext cx="1351757" cy="913360"/>
      </dsp:txXfrm>
    </dsp:sp>
    <dsp:sp modelId="{3E237373-A181-4050-81D8-D71A7C82D722}">
      <dsp:nvSpPr>
        <dsp:cNvPr id="0" name=""/>
        <dsp:cNvSpPr/>
      </dsp:nvSpPr>
      <dsp:spPr>
        <a:xfrm>
          <a:off x="6731854" y="807043"/>
          <a:ext cx="608291" cy="608291"/>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8B0AD0C0-F0DA-4CD8-830E-EAFA0FF514BC}">
      <dsp:nvSpPr>
        <dsp:cNvPr id="0" name=""/>
        <dsp:cNvSpPr/>
      </dsp:nvSpPr>
      <dsp:spPr>
        <a:xfrm>
          <a:off x="6360121" y="1683872"/>
          <a:ext cx="1351757" cy="9133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t>Stakeholders:</a:t>
          </a:r>
        </a:p>
      </dsp:txBody>
      <dsp:txXfrm>
        <a:off x="6360121" y="1683872"/>
        <a:ext cx="1351757" cy="913360"/>
      </dsp:txXfrm>
    </dsp:sp>
    <dsp:sp modelId="{92D90A46-1A39-4BC4-991D-659778C93F29}">
      <dsp:nvSpPr>
        <dsp:cNvPr id="0" name=""/>
        <dsp:cNvSpPr/>
      </dsp:nvSpPr>
      <dsp:spPr>
        <a:xfrm>
          <a:off x="8320170" y="807043"/>
          <a:ext cx="608291" cy="608291"/>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79812E8D-36BD-4CE4-BD46-478D38E6FF1C}">
      <dsp:nvSpPr>
        <dsp:cNvPr id="0" name=""/>
        <dsp:cNvSpPr/>
      </dsp:nvSpPr>
      <dsp:spPr>
        <a:xfrm>
          <a:off x="7948436" y="1683872"/>
          <a:ext cx="1351757" cy="9133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t>- Store Owner</a:t>
          </a:r>
          <a:br>
            <a:rPr lang="en-US" sz="1100" kern="1200"/>
          </a:br>
          <a:r>
            <a:rPr lang="en-US" sz="1100" kern="1200"/>
            <a:t>- Cashier</a:t>
          </a:r>
          <a:br>
            <a:rPr lang="en-US" sz="1100" kern="1200"/>
          </a:br>
          <a:r>
            <a:rPr lang="en-US" sz="1100" kern="1200"/>
            <a:t>- Inventory Manager</a:t>
          </a:r>
          <a:br>
            <a:rPr lang="en-US" sz="1100" kern="1200"/>
          </a:br>
          <a:r>
            <a:rPr lang="en-US" sz="1100" kern="1200"/>
            <a:t>- Customers</a:t>
          </a:r>
          <a:br>
            <a:rPr lang="en-US" sz="1100" kern="1200"/>
          </a:br>
          <a:r>
            <a:rPr lang="en-US" sz="1100" kern="1200"/>
            <a:t>- Development Team</a:t>
          </a:r>
        </a:p>
      </dsp:txBody>
      <dsp:txXfrm>
        <a:off x="7948436" y="1683872"/>
        <a:ext cx="1351757" cy="913360"/>
      </dsp:txXfrm>
    </dsp:sp>
    <dsp:sp modelId="{8E143C6B-F20D-42FF-A569-8A50CE69DE58}">
      <dsp:nvSpPr>
        <dsp:cNvPr id="0" name=""/>
        <dsp:cNvSpPr/>
      </dsp:nvSpPr>
      <dsp:spPr>
        <a:xfrm>
          <a:off x="9908485" y="807043"/>
          <a:ext cx="608291" cy="608291"/>
        </a:xfrm>
        <a:prstGeom prst="rect">
          <a:avLst/>
        </a:prstGeom>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CB900CC7-0974-4434-9AE4-35685DAEC151}">
      <dsp:nvSpPr>
        <dsp:cNvPr id="0" name=""/>
        <dsp:cNvSpPr/>
      </dsp:nvSpPr>
      <dsp:spPr>
        <a:xfrm>
          <a:off x="9536752" y="1683872"/>
          <a:ext cx="1351757" cy="9133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t>-Suppliers </a:t>
          </a:r>
        </a:p>
      </dsp:txBody>
      <dsp:txXfrm>
        <a:off x="9536752" y="1683872"/>
        <a:ext cx="1351757" cy="91336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6A1850-EC9A-4C73-9819-2880F569F20B}">
      <dsp:nvSpPr>
        <dsp:cNvPr id="0" name=""/>
        <dsp:cNvSpPr/>
      </dsp:nvSpPr>
      <dsp:spPr>
        <a:xfrm>
          <a:off x="0" y="117957"/>
          <a:ext cx="2938860" cy="1763316"/>
        </a:xfrm>
        <a:prstGeom prst="rect">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0" i="0" kern="1200"/>
            <a:t>·  </a:t>
          </a:r>
          <a:r>
            <a:rPr lang="en-US" sz="1900" b="1" i="0" kern="1200"/>
            <a:t>User Authentication:</a:t>
          </a:r>
          <a:r>
            <a:rPr lang="en-US" sz="1900" b="0" i="0" kern="1200"/>
            <a:t> Secure login/logout for different roles.</a:t>
          </a:r>
          <a:endParaRPr lang="en-US" sz="1900" kern="1200"/>
        </a:p>
      </dsp:txBody>
      <dsp:txXfrm>
        <a:off x="0" y="117957"/>
        <a:ext cx="2938860" cy="1763316"/>
      </dsp:txXfrm>
    </dsp:sp>
    <dsp:sp modelId="{E8DCBEE9-1217-41CE-8E8D-BC72CB90C288}">
      <dsp:nvSpPr>
        <dsp:cNvPr id="0" name=""/>
        <dsp:cNvSpPr/>
      </dsp:nvSpPr>
      <dsp:spPr>
        <a:xfrm>
          <a:off x="3232745" y="117957"/>
          <a:ext cx="2938860" cy="1763316"/>
        </a:xfrm>
        <a:prstGeom prst="rect">
          <a:avLst/>
        </a:prstGeom>
        <a:solidFill>
          <a:schemeClr val="accent3">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0" i="0" kern="1200"/>
            <a:t>·  </a:t>
          </a:r>
          <a:r>
            <a:rPr lang="en-US" sz="1900" b="1" i="0" kern="1200"/>
            <a:t>Product Management:</a:t>
          </a:r>
          <a:r>
            <a:rPr lang="en-US" sz="1900" b="0" i="0" kern="1200"/>
            <a:t> Adding,editing, and deleting clothing items (size, color, brand).</a:t>
          </a:r>
          <a:endParaRPr lang="en-US" sz="1900" kern="1200"/>
        </a:p>
      </dsp:txBody>
      <dsp:txXfrm>
        <a:off x="3232745" y="117957"/>
        <a:ext cx="2938860" cy="1763316"/>
      </dsp:txXfrm>
    </dsp:sp>
    <dsp:sp modelId="{6A5F9081-488E-4505-8E15-3820385B9246}">
      <dsp:nvSpPr>
        <dsp:cNvPr id="0" name=""/>
        <dsp:cNvSpPr/>
      </dsp:nvSpPr>
      <dsp:spPr>
        <a:xfrm>
          <a:off x="6465492" y="117957"/>
          <a:ext cx="2938860" cy="1763316"/>
        </a:xfrm>
        <a:prstGeom prst="rect">
          <a:avLst/>
        </a:prstGeom>
        <a:solidFill>
          <a:schemeClr val="accent4">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0" i="0" kern="1200"/>
            <a:t>·  </a:t>
          </a:r>
          <a:r>
            <a:rPr lang="en-US" sz="1900" b="1" i="0" kern="1200"/>
            <a:t>Transaction Processing:</a:t>
          </a:r>
          <a:r>
            <a:rPr lang="en-US" sz="1900" b="0" i="0" kern="1200"/>
            <a:t> Scanning items, applying discounts, and generating receipts.</a:t>
          </a:r>
          <a:endParaRPr lang="en-US" sz="1900" kern="1200"/>
        </a:p>
      </dsp:txBody>
      <dsp:txXfrm>
        <a:off x="6465492" y="117957"/>
        <a:ext cx="2938860" cy="1763316"/>
      </dsp:txXfrm>
    </dsp:sp>
    <dsp:sp modelId="{D9233C70-748B-492E-B553-BD77063FF89D}">
      <dsp:nvSpPr>
        <dsp:cNvPr id="0" name=""/>
        <dsp:cNvSpPr/>
      </dsp:nvSpPr>
      <dsp:spPr>
        <a:xfrm>
          <a:off x="0" y="2175159"/>
          <a:ext cx="2938860" cy="1763316"/>
        </a:xfrm>
        <a:prstGeom prst="rect">
          <a:avLst/>
        </a:prstGeom>
        <a:solidFill>
          <a:schemeClr val="accent5">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0" i="0" kern="1200"/>
            <a:t>·  </a:t>
          </a:r>
          <a:r>
            <a:rPr lang="en-US" sz="1900" b="1" i="0" kern="1200"/>
            <a:t>Inventory Monitoring:</a:t>
          </a:r>
          <a:r>
            <a:rPr lang="en-US" sz="1900" b="0" i="0" kern="1200"/>
            <a:t> Low-stock alerts and automatic stock deduction upon sale.</a:t>
          </a:r>
          <a:endParaRPr lang="en-US" sz="1900" kern="1200"/>
        </a:p>
      </dsp:txBody>
      <dsp:txXfrm>
        <a:off x="0" y="2175159"/>
        <a:ext cx="2938860" cy="1763316"/>
      </dsp:txXfrm>
    </dsp:sp>
    <dsp:sp modelId="{D4DED7C7-EAA1-4AE6-8B29-C741EFE9FD1D}">
      <dsp:nvSpPr>
        <dsp:cNvPr id="0" name=""/>
        <dsp:cNvSpPr/>
      </dsp:nvSpPr>
      <dsp:spPr>
        <a:xfrm>
          <a:off x="3232746" y="2175160"/>
          <a:ext cx="2938860" cy="1763316"/>
        </a:xfrm>
        <a:prstGeom prst="rect">
          <a:avLst/>
        </a:prstGeom>
        <a:solidFill>
          <a:schemeClr val="accent6">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0" i="0" kern="1200"/>
            <a:t>·  </a:t>
          </a:r>
          <a:r>
            <a:rPr lang="en-US" sz="1900" b="1" i="0" kern="1200"/>
            <a:t>Reporting &amp; Analytics:</a:t>
          </a:r>
          <a:r>
            <a:rPr lang="en-US" sz="1900" b="0" i="0" kern="1200"/>
            <a:t> Daily/monthly sales summaries and profit tracking.</a:t>
          </a:r>
          <a:endParaRPr lang="en-US" sz="1900" kern="1200"/>
        </a:p>
      </dsp:txBody>
      <dsp:txXfrm>
        <a:off x="3232746" y="2175160"/>
        <a:ext cx="2938860" cy="1763316"/>
      </dsp:txXfrm>
    </dsp:sp>
    <dsp:sp modelId="{0B2992AF-19B9-47B0-B3E6-72E9D930101A}">
      <dsp:nvSpPr>
        <dsp:cNvPr id="0" name=""/>
        <dsp:cNvSpPr/>
      </dsp:nvSpPr>
      <dsp:spPr>
        <a:xfrm>
          <a:off x="6465492" y="2175160"/>
          <a:ext cx="2938860" cy="1763316"/>
        </a:xfrm>
        <a:prstGeom prst="rect">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1" i="0" kern="1200"/>
            <a:t>Handling Returns and Exchanges -</a:t>
          </a:r>
          <a:r>
            <a:rPr lang="en-US" sz="1900" b="0" i="0" kern="1200"/>
            <a:t>Return of damaged goods </a:t>
          </a:r>
          <a:endParaRPr lang="en-US" sz="1900" kern="1200"/>
        </a:p>
      </dsp:txBody>
      <dsp:txXfrm>
        <a:off x="6465492" y="2175160"/>
        <a:ext cx="2938860" cy="1763316"/>
      </dsp:txXfrm>
    </dsp:sp>
  </dsp:spTree>
</dsp:drawing>
</file>

<file path=ppt/diagrams/layout1.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dirty="0"/>
              <a:t>2/21/2026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4509A250-FF31-4206-8172-F9D3106AACB1}" type="datetimeFigureOut">
              <a:rPr lang="en-US" dirty="0"/>
              <a:t>2/21/2026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796027F-7875-4030-9381-8BD8C4F21935}" type="datetimeFigureOut">
              <a:rPr lang="en-US" dirty="0"/>
              <a:t>2/21/2026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796027F-7875-4030-9381-8BD8C4F21935}" type="datetimeFigureOut">
              <a:rPr lang="en-US" dirty="0"/>
              <a:t>2/21/2026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796027F-7875-4030-9381-8BD8C4F21935}" type="datetimeFigureOut">
              <a:rPr lang="en-US" dirty="0"/>
              <a:t>2/21/2026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4509A250-FF31-4206-8172-F9D3106AACB1}" type="datetimeFigureOut">
              <a:rPr lang="en-US" dirty="0"/>
              <a:t>2/21/2026</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09A250-FF31-4206-8172-F9D3106AACB1}" type="datetimeFigureOut">
              <a:rPr lang="en-US" dirty="0"/>
              <a:t>2/21/2026</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7" name="Date Placeholder 4"/>
          <p:cNvSpPr>
            <a:spLocks noGrp="1"/>
          </p:cNvSpPr>
          <p:nvPr>
            <p:ph type="dt" sz="half" idx="10"/>
          </p:nvPr>
        </p:nvSpPr>
        <p:spPr/>
        <p:txBody>
          <a:bodyPr/>
          <a:lstStyle/>
          <a:p>
            <a:fld id="{4509A250-FF31-4206-8172-F9D3106AACB1}" type="datetimeFigureOut">
              <a:rPr lang="en-US" dirty="0"/>
              <a:t>2/21/2026</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2/21/2026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2/21/2026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2/21/2026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2/21/2026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2/21/2026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2/21/2026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2/21/2026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2/21/2026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2/21/2026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AAD347D-5ACD-4C99-B74B-A9C85AD731AF}" type="datetimeFigureOut">
              <a:rPr lang="en-US" dirty="0"/>
              <a:t>2/21/2026</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02111984F565}" type="slidenum">
              <a:rPr lang="en-US" dirty="0"/>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64"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88FA97-C16B-4222-8C4D-E22F58E87A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7060590" y="1325880"/>
            <a:ext cx="4483709" cy="3066507"/>
          </a:xfrm>
        </p:spPr>
        <p:txBody>
          <a:bodyPr>
            <a:normAutofit/>
          </a:bodyPr>
          <a:lstStyle/>
          <a:p>
            <a:pPr>
              <a:lnSpc>
                <a:spcPct val="90000"/>
              </a:lnSpc>
            </a:pPr>
            <a:br>
              <a:rPr lang="en-GB" sz="1400">
                <a:solidFill>
                  <a:srgbClr val="EBEBEB"/>
                </a:solidFill>
              </a:rPr>
            </a:br>
            <a:br>
              <a:rPr lang="en-GB" sz="1400">
                <a:solidFill>
                  <a:srgbClr val="EBEBEB"/>
                </a:solidFill>
              </a:rPr>
            </a:br>
            <a:br>
              <a:rPr lang="en-GB" sz="1400">
                <a:solidFill>
                  <a:srgbClr val="EBEBEB"/>
                </a:solidFill>
              </a:rPr>
            </a:br>
            <a:br>
              <a:rPr lang="en-GB" sz="1400">
                <a:solidFill>
                  <a:srgbClr val="EBEBEB"/>
                </a:solidFill>
              </a:rPr>
            </a:br>
            <a:r>
              <a:rPr lang="en-GB" sz="1400">
                <a:solidFill>
                  <a:srgbClr val="EBEBEB"/>
                </a:solidFill>
              </a:rPr>
              <a:t>THE UNIVERSITY OF ZAMBIA</a:t>
            </a:r>
            <a:br>
              <a:rPr lang="en-GB" sz="1400">
                <a:solidFill>
                  <a:srgbClr val="EBEBEB"/>
                </a:solidFill>
              </a:rPr>
            </a:br>
            <a:r>
              <a:rPr lang="en-GB" sz="1400">
                <a:solidFill>
                  <a:srgbClr val="EBEBEB"/>
                </a:solidFill>
              </a:rPr>
              <a:t>School of Natural Sciences (NS)</a:t>
            </a:r>
            <a:br>
              <a:rPr lang="en-GB" sz="1400">
                <a:solidFill>
                  <a:srgbClr val="EBEBEB"/>
                </a:solidFill>
              </a:rPr>
            </a:br>
            <a:r>
              <a:rPr lang="en-GB" sz="1400">
                <a:solidFill>
                  <a:srgbClr val="EBEBEB"/>
                </a:solidFill>
              </a:rPr>
              <a:t>Department of Computer Science</a:t>
            </a:r>
            <a:br>
              <a:rPr lang="en-GB" sz="1400">
                <a:solidFill>
                  <a:srgbClr val="EBEBEB"/>
                </a:solidFill>
              </a:rPr>
            </a:br>
            <a:br>
              <a:rPr lang="en-GB" sz="1400">
                <a:solidFill>
                  <a:srgbClr val="EBEBEB"/>
                </a:solidFill>
              </a:rPr>
            </a:br>
            <a:r>
              <a:rPr lang="en-GB" sz="1400">
                <a:solidFill>
                  <a:srgbClr val="EBEBEB"/>
                </a:solidFill>
              </a:rPr>
              <a:t>CSC 4630 – Advanced Software Engineering</a:t>
            </a:r>
            <a:br>
              <a:rPr lang="en-GB" sz="1400">
                <a:solidFill>
                  <a:srgbClr val="EBEBEB"/>
                </a:solidFill>
              </a:rPr>
            </a:br>
            <a:br>
              <a:rPr lang="en-GB" sz="1400">
                <a:solidFill>
                  <a:srgbClr val="EBEBEB"/>
                </a:solidFill>
              </a:rPr>
            </a:br>
            <a:br>
              <a:rPr lang="en-GB" sz="1400">
                <a:solidFill>
                  <a:srgbClr val="EBEBEB"/>
                </a:solidFill>
              </a:rPr>
            </a:br>
            <a:endParaRPr lang="en-US" sz="1400">
              <a:solidFill>
                <a:srgbClr val="EBEBEB"/>
              </a:solidFill>
            </a:endParaRPr>
          </a:p>
        </p:txBody>
      </p:sp>
      <p:sp>
        <p:nvSpPr>
          <p:cNvPr id="3" name="Subtitle 2"/>
          <p:cNvSpPr>
            <a:spLocks noGrp="1"/>
          </p:cNvSpPr>
          <p:nvPr>
            <p:ph type="subTitle" idx="1"/>
          </p:nvPr>
        </p:nvSpPr>
        <p:spPr>
          <a:xfrm>
            <a:off x="7060590" y="4588329"/>
            <a:ext cx="4483709" cy="1621970"/>
          </a:xfrm>
        </p:spPr>
        <p:txBody>
          <a:bodyPr>
            <a:normAutofit/>
          </a:bodyPr>
          <a:lstStyle/>
          <a:p>
            <a:r>
              <a:rPr lang="en-GB" sz="1800">
                <a:solidFill>
                  <a:schemeClr val="tx2">
                    <a:lumMod val="40000"/>
                    <a:lumOff val="60000"/>
                  </a:schemeClr>
                </a:solidFill>
              </a:rPr>
              <a:t>Design and Implementation of an Integrated POS Solution</a:t>
            </a:r>
            <a:br>
              <a:rPr lang="en-GB" sz="1800" b="1">
                <a:solidFill>
                  <a:schemeClr val="tx2">
                    <a:lumMod val="40000"/>
                    <a:lumOff val="60000"/>
                  </a:schemeClr>
                </a:solidFill>
              </a:rPr>
            </a:br>
            <a:endParaRPr lang="en-US" sz="1800">
              <a:solidFill>
                <a:schemeClr val="tx2">
                  <a:lumMod val="40000"/>
                  <a:lumOff val="60000"/>
                </a:schemeClr>
              </a:solidFill>
            </a:endParaRPr>
          </a:p>
        </p:txBody>
      </p:sp>
      <p:sp useBgFill="1">
        <p:nvSpPr>
          <p:cNvPr id="23" name="Rectangle 22">
            <a:extLst>
              <a:ext uri="{FF2B5EF4-FFF2-40B4-BE49-F238E27FC236}">
                <a16:creationId xmlns:a16="http://schemas.microsoft.com/office/drawing/2014/main" id="{D5395B5B-2522-4AED-9DF1-8EA401469F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6914" y="639905"/>
            <a:ext cx="5775975" cy="55781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86745676-985D-4F8F-BBC9-74CCF08EF6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pic>
        <p:nvPicPr>
          <p:cNvPr id="9" name="Picture 8">
            <a:extLst>
              <a:ext uri="{FF2B5EF4-FFF2-40B4-BE49-F238E27FC236}">
                <a16:creationId xmlns:a16="http://schemas.microsoft.com/office/drawing/2014/main" id="{FDDA17D8-9432-CEB5-6799-D918C2ED853D}"/>
              </a:ext>
            </a:extLst>
          </p:cNvPr>
          <p:cNvPicPr>
            <a:picLocks noChangeAspect="1"/>
          </p:cNvPicPr>
          <p:nvPr/>
        </p:nvPicPr>
        <p:blipFill>
          <a:blip r:embed="rId2"/>
          <a:stretch>
            <a:fillRect/>
          </a:stretch>
        </p:blipFill>
        <p:spPr>
          <a:xfrm>
            <a:off x="1058446" y="965141"/>
            <a:ext cx="4932911" cy="4932911"/>
          </a:xfrm>
          <a:prstGeom prst="rect">
            <a:avLst/>
          </a:prstGeom>
          <a:effectLst/>
        </p:spPr>
      </p:pic>
    </p:spTree>
    <p:extLst>
      <p:ext uri="{BB962C8B-B14F-4D97-AF65-F5344CB8AC3E}">
        <p14:creationId xmlns:p14="http://schemas.microsoft.com/office/powerpoint/2010/main" val="3595826311"/>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1400530"/>
          </a:xfrm>
        </p:spPr>
        <p:txBody>
          <a:bodyPr>
            <a:normAutofit/>
          </a:bodyPr>
          <a:lstStyle/>
          <a:p>
            <a:r>
              <a:rPr lang="en-US" b="1" u="sng" dirty="0"/>
              <a:t>Roles</a:t>
            </a:r>
            <a:br>
              <a:rPr lang="en-US" dirty="0"/>
            </a:br>
            <a:endParaRPr lang="en-US"/>
          </a:p>
        </p:txBody>
      </p:sp>
      <p:graphicFrame>
        <p:nvGraphicFramePr>
          <p:cNvPr id="5" name="Content Placeholder 2">
            <a:extLst>
              <a:ext uri="{FF2B5EF4-FFF2-40B4-BE49-F238E27FC236}">
                <a16:creationId xmlns:a16="http://schemas.microsoft.com/office/drawing/2014/main" id="{D74090ED-39A7-6848-996F-AFAE816CCCE7}"/>
              </a:ext>
            </a:extLst>
          </p:cNvPr>
          <p:cNvGraphicFramePr>
            <a:graphicFrameLocks noGrp="1"/>
          </p:cNvGraphicFramePr>
          <p:nvPr>
            <p:ph idx="1"/>
            <p:extLst>
              <p:ext uri="{D42A27DB-BD31-4B8C-83A1-F6EECF244321}">
                <p14:modId xmlns:p14="http://schemas.microsoft.com/office/powerpoint/2010/main" val="297757685"/>
              </p:ext>
            </p:extLst>
          </p:nvPr>
        </p:nvGraphicFramePr>
        <p:xfrm>
          <a:off x="646111" y="2237362"/>
          <a:ext cx="9404352" cy="404670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431169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1. INCEPTION PHASE</a:t>
            </a:r>
            <a:endParaRPr lang="en-US" dirty="0"/>
          </a:p>
        </p:txBody>
      </p:sp>
      <p:sp>
        <p:nvSpPr>
          <p:cNvPr id="3" name="Content Placeholder 2"/>
          <p:cNvSpPr>
            <a:spLocks noGrp="1"/>
          </p:cNvSpPr>
          <p:nvPr>
            <p:ph idx="1"/>
          </p:nvPr>
        </p:nvSpPr>
        <p:spPr/>
        <p:txBody>
          <a:bodyPr/>
          <a:lstStyle/>
          <a:p>
            <a:pPr marL="0" indent="0">
              <a:buNone/>
            </a:pPr>
            <a:endParaRPr lang="en-US" dirty="0"/>
          </a:p>
          <a:p>
            <a:r>
              <a:rPr lang="en-US" b="1" dirty="0"/>
              <a:t>1.1 Problem Statement</a:t>
            </a:r>
            <a:endParaRPr lang="en-US" dirty="0"/>
          </a:p>
          <a:p>
            <a:r>
              <a:rPr lang="en-US" dirty="0"/>
              <a:t>Many small and medium retail clothing stores rely on manual systems or basic spreadsheets to manage inventory, sales, and reporting. This results in inaccurate stock tracking, delayed report generation, billing errors, poor return and refund tracking and poor business decision-making. The absence of an integrated automated system reduces operational efficiency and profitability.</a:t>
            </a:r>
          </a:p>
          <a:p>
            <a:endParaRPr lang="en-US" dirty="0"/>
          </a:p>
        </p:txBody>
      </p:sp>
    </p:spTree>
    <p:extLst>
      <p:ext uri="{BB962C8B-B14F-4D97-AF65-F5344CB8AC3E}">
        <p14:creationId xmlns:p14="http://schemas.microsoft.com/office/powerpoint/2010/main" val="27896003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8A3C342-1D03-412F-8DD3-BF519E8E0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48930" y="629266"/>
            <a:ext cx="6188190" cy="1622321"/>
          </a:xfrm>
        </p:spPr>
        <p:txBody>
          <a:bodyPr>
            <a:normAutofit/>
          </a:bodyPr>
          <a:lstStyle/>
          <a:p>
            <a:r>
              <a:rPr lang="en-US" b="1">
                <a:solidFill>
                  <a:srgbClr val="EBEBEB"/>
                </a:solidFill>
              </a:rPr>
              <a:t>1.2 Proposed Solution</a:t>
            </a:r>
            <a:endParaRPr lang="en-US">
              <a:solidFill>
                <a:srgbClr val="EBEBEB"/>
              </a:solidFill>
            </a:endParaRPr>
          </a:p>
        </p:txBody>
      </p:sp>
      <p:sp>
        <p:nvSpPr>
          <p:cNvPr id="3" name="Content Placeholder 2"/>
          <p:cNvSpPr>
            <a:spLocks noGrp="1"/>
          </p:cNvSpPr>
          <p:nvPr>
            <p:ph idx="1"/>
          </p:nvPr>
        </p:nvSpPr>
        <p:spPr>
          <a:xfrm>
            <a:off x="648930" y="2438400"/>
            <a:ext cx="6188189" cy="3785419"/>
          </a:xfrm>
        </p:spPr>
        <p:txBody>
          <a:bodyPr>
            <a:normAutofit/>
          </a:bodyPr>
          <a:lstStyle/>
          <a:p>
            <a:pPr marL="0" indent="0">
              <a:buNone/>
            </a:pPr>
            <a:endParaRPr lang="en-US">
              <a:solidFill>
                <a:srgbClr val="FFFFFF"/>
              </a:solidFill>
            </a:endParaRPr>
          </a:p>
          <a:p>
            <a:r>
              <a:rPr lang="en-US">
                <a:solidFill>
                  <a:srgbClr val="FFFFFF"/>
                </a:solidFill>
              </a:rPr>
              <a:t>The proposed Retail Clothing Store Management System will automate sales processing, inventory tracking, reporting, and user management. The system will improve accuracy, efficiency, and decision-making through real-time data management</a:t>
            </a:r>
          </a:p>
        </p:txBody>
      </p:sp>
      <p:sp>
        <p:nvSpPr>
          <p:cNvPr id="11" name="Freeform 31">
            <a:extLst>
              <a:ext uri="{FF2B5EF4-FFF2-40B4-BE49-F238E27FC236}">
                <a16:creationId xmlns:a16="http://schemas.microsoft.com/office/drawing/2014/main" id="{81CC9B02-E087-4350-AEBD-2C3CF001AF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15974"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5" name="Picture 4" descr="Abstract blurred background of department store">
            <a:extLst>
              <a:ext uri="{FF2B5EF4-FFF2-40B4-BE49-F238E27FC236}">
                <a16:creationId xmlns:a16="http://schemas.microsoft.com/office/drawing/2014/main" id="{EAC7F020-1FA8-CED3-F60A-E28C28FAFD22}"/>
              </a:ext>
            </a:extLst>
          </p:cNvPr>
          <p:cNvPicPr>
            <a:picLocks noChangeAspect="1"/>
          </p:cNvPicPr>
          <p:nvPr/>
        </p:nvPicPr>
        <p:blipFill>
          <a:blip r:embed="rId3"/>
          <a:srcRect l="19890" r="31801" b="-2"/>
          <a:stretch>
            <a:fillRect/>
          </a:stretch>
        </p:blipFill>
        <p:spPr>
          <a:xfrm>
            <a:off x="7229175" y="1"/>
            <a:ext cx="4963245" cy="6858001"/>
          </a:xfrm>
          <a:custGeom>
            <a:avLst/>
            <a:gdLst/>
            <a:ahLst/>
            <a:cxnLst/>
            <a:rect l="l" t="t" r="r" b="b"/>
            <a:pathLst>
              <a:path w="4963245" h="6858001">
                <a:moveTo>
                  <a:pt x="1177" y="0"/>
                </a:moveTo>
                <a:lnTo>
                  <a:pt x="1344715" y="0"/>
                </a:lnTo>
                <a:lnTo>
                  <a:pt x="1344715" y="1"/>
                </a:lnTo>
                <a:lnTo>
                  <a:pt x="4963245" y="1"/>
                </a:lnTo>
                <a:lnTo>
                  <a:pt x="4963244" y="6858001"/>
                </a:lnTo>
                <a:lnTo>
                  <a:pt x="900697" y="6858001"/>
                </a:lnTo>
                <a:lnTo>
                  <a:pt x="900697" y="6858000"/>
                </a:lnTo>
                <a:lnTo>
                  <a:pt x="0" y="6858000"/>
                </a:lnTo>
                <a:lnTo>
                  <a:pt x="5883" y="6817538"/>
                </a:lnTo>
                <a:lnTo>
                  <a:pt x="23196" y="6698894"/>
                </a:lnTo>
                <a:lnTo>
                  <a:pt x="35299" y="6612483"/>
                </a:lnTo>
                <a:lnTo>
                  <a:pt x="48073" y="6509613"/>
                </a:lnTo>
                <a:lnTo>
                  <a:pt x="63369" y="6387541"/>
                </a:lnTo>
                <a:lnTo>
                  <a:pt x="79506" y="6252438"/>
                </a:lnTo>
                <a:lnTo>
                  <a:pt x="96483" y="6100191"/>
                </a:lnTo>
                <a:lnTo>
                  <a:pt x="114469" y="5934227"/>
                </a:lnTo>
                <a:lnTo>
                  <a:pt x="132454" y="5753862"/>
                </a:lnTo>
                <a:lnTo>
                  <a:pt x="150776" y="5561838"/>
                </a:lnTo>
                <a:lnTo>
                  <a:pt x="167753" y="5354726"/>
                </a:lnTo>
                <a:lnTo>
                  <a:pt x="184058" y="5138013"/>
                </a:lnTo>
                <a:lnTo>
                  <a:pt x="198849" y="4908956"/>
                </a:lnTo>
                <a:lnTo>
                  <a:pt x="212969" y="4670298"/>
                </a:lnTo>
                <a:lnTo>
                  <a:pt x="226248" y="4421352"/>
                </a:lnTo>
                <a:lnTo>
                  <a:pt x="230955" y="4293793"/>
                </a:lnTo>
                <a:lnTo>
                  <a:pt x="236165" y="4163492"/>
                </a:lnTo>
                <a:lnTo>
                  <a:pt x="241040" y="4031133"/>
                </a:lnTo>
                <a:lnTo>
                  <a:pt x="244234" y="3898087"/>
                </a:lnTo>
                <a:lnTo>
                  <a:pt x="247091" y="3762299"/>
                </a:lnTo>
                <a:lnTo>
                  <a:pt x="250117" y="3625139"/>
                </a:lnTo>
                <a:lnTo>
                  <a:pt x="252134" y="3485236"/>
                </a:lnTo>
                <a:lnTo>
                  <a:pt x="252134" y="3343961"/>
                </a:lnTo>
                <a:lnTo>
                  <a:pt x="253142" y="3201315"/>
                </a:lnTo>
                <a:lnTo>
                  <a:pt x="252134" y="3057297"/>
                </a:lnTo>
                <a:lnTo>
                  <a:pt x="250117" y="2911221"/>
                </a:lnTo>
                <a:lnTo>
                  <a:pt x="248268" y="2765146"/>
                </a:lnTo>
                <a:lnTo>
                  <a:pt x="244234" y="2617013"/>
                </a:lnTo>
                <a:lnTo>
                  <a:pt x="240032" y="2467509"/>
                </a:lnTo>
                <a:lnTo>
                  <a:pt x="235157" y="2318004"/>
                </a:lnTo>
                <a:lnTo>
                  <a:pt x="228266" y="2167128"/>
                </a:lnTo>
                <a:lnTo>
                  <a:pt x="220029" y="2014881"/>
                </a:lnTo>
                <a:lnTo>
                  <a:pt x="212129" y="1861947"/>
                </a:lnTo>
                <a:lnTo>
                  <a:pt x="202044" y="1709014"/>
                </a:lnTo>
                <a:lnTo>
                  <a:pt x="189941" y="1554023"/>
                </a:lnTo>
                <a:lnTo>
                  <a:pt x="177839" y="1401090"/>
                </a:lnTo>
                <a:lnTo>
                  <a:pt x="163887" y="1245413"/>
                </a:lnTo>
                <a:lnTo>
                  <a:pt x="148591" y="1089051"/>
                </a:lnTo>
                <a:lnTo>
                  <a:pt x="132455" y="934746"/>
                </a:lnTo>
                <a:lnTo>
                  <a:pt x="113629" y="778383"/>
                </a:lnTo>
                <a:lnTo>
                  <a:pt x="93458" y="622707"/>
                </a:lnTo>
                <a:lnTo>
                  <a:pt x="73455" y="466344"/>
                </a:lnTo>
                <a:lnTo>
                  <a:pt x="50091" y="310668"/>
                </a:lnTo>
                <a:lnTo>
                  <a:pt x="26222" y="155677"/>
                </a:lnTo>
                <a:close/>
              </a:path>
            </a:pathLst>
          </a:custGeom>
        </p:spPr>
      </p:pic>
    </p:spTree>
    <p:extLst>
      <p:ext uri="{BB962C8B-B14F-4D97-AF65-F5344CB8AC3E}">
        <p14:creationId xmlns:p14="http://schemas.microsoft.com/office/powerpoint/2010/main" val="9954375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747F1B4-B831-4277-8AB0-32767F7EB7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11" name="Freeform 7">
            <a:extLst>
              <a:ext uri="{FF2B5EF4-FFF2-40B4-BE49-F238E27FC236}">
                <a16:creationId xmlns:a16="http://schemas.microsoft.com/office/drawing/2014/main" id="{D80CFA21-AB7C-4BEB-9BFF-05764FBBF3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algn="ctr"/>
            <a:endParaRPr lang="en-US">
              <a:solidFill>
                <a:schemeClr val="tx1"/>
              </a:solidFill>
            </a:endParaRPr>
          </a:p>
        </p:txBody>
      </p:sp>
      <p:sp>
        <p:nvSpPr>
          <p:cNvPr id="2" name="Title 1"/>
          <p:cNvSpPr>
            <a:spLocks noGrp="1"/>
          </p:cNvSpPr>
          <p:nvPr>
            <p:ph type="title"/>
          </p:nvPr>
        </p:nvSpPr>
        <p:spPr>
          <a:xfrm>
            <a:off x="648930" y="629267"/>
            <a:ext cx="9252154" cy="1016654"/>
          </a:xfrm>
        </p:spPr>
        <p:txBody>
          <a:bodyPr>
            <a:normAutofit/>
          </a:bodyPr>
          <a:lstStyle/>
          <a:p>
            <a:r>
              <a:rPr lang="en-US" b="1">
                <a:solidFill>
                  <a:srgbClr val="EBEBEB"/>
                </a:solidFill>
              </a:rPr>
              <a:t>1.3 Business Case</a:t>
            </a:r>
            <a:endParaRPr lang="en-US">
              <a:solidFill>
                <a:srgbClr val="EBEBEB"/>
              </a:solidFill>
            </a:endParaRPr>
          </a:p>
        </p:txBody>
      </p:sp>
      <p:sp>
        <p:nvSpPr>
          <p:cNvPr id="13" name="Rectangle 12">
            <a:extLst>
              <a:ext uri="{FF2B5EF4-FFF2-40B4-BE49-F238E27FC236}">
                <a16:creationId xmlns:a16="http://schemas.microsoft.com/office/drawing/2014/main" id="{12F7E335-851A-4CAE-B09F-E657819D46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5" name="Freeform: Shape 14">
            <a:extLst>
              <a:ext uri="{FF2B5EF4-FFF2-40B4-BE49-F238E27FC236}">
                <a16:creationId xmlns:a16="http://schemas.microsoft.com/office/drawing/2014/main" id="{10B541F0-7F6E-402E-84D8-CF96EACA5F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8" cy="5095933"/>
          </a:xfrm>
          <a:custGeom>
            <a:avLst/>
            <a:gdLst>
              <a:gd name="connsiteX0" fmla="*/ 1 w 12192418"/>
              <a:gd name="connsiteY0" fmla="*/ 0 h 5095933"/>
              <a:gd name="connsiteX1" fmla="*/ 71932 w 12192418"/>
              <a:gd name="connsiteY1" fmla="*/ 12261 h 5095933"/>
              <a:gd name="connsiteX2" fmla="*/ 282849 w 12192418"/>
              <a:gd name="connsiteY2" fmla="*/ 48343 h 5095933"/>
              <a:gd name="connsiteX3" fmla="*/ 436464 w 12192418"/>
              <a:gd name="connsiteY3" fmla="*/ 73565 h 5095933"/>
              <a:gd name="connsiteX4" fmla="*/ 619339 w 12192418"/>
              <a:gd name="connsiteY4" fmla="*/ 100188 h 5095933"/>
              <a:gd name="connsiteX5" fmla="*/ 836351 w 12192418"/>
              <a:gd name="connsiteY5" fmla="*/ 132066 h 5095933"/>
              <a:gd name="connsiteX6" fmla="*/ 1076528 w 12192418"/>
              <a:gd name="connsiteY6" fmla="*/ 165696 h 5095933"/>
              <a:gd name="connsiteX7" fmla="*/ 1347184 w 12192418"/>
              <a:gd name="connsiteY7" fmla="*/ 201077 h 5095933"/>
              <a:gd name="connsiteX8" fmla="*/ 1642223 w 12192418"/>
              <a:gd name="connsiteY8" fmla="*/ 238560 h 5095933"/>
              <a:gd name="connsiteX9" fmla="*/ 1962864 w 12192418"/>
              <a:gd name="connsiteY9" fmla="*/ 276043 h 5095933"/>
              <a:gd name="connsiteX10" fmla="*/ 2304232 w 12192418"/>
              <a:gd name="connsiteY10" fmla="*/ 314227 h 5095933"/>
              <a:gd name="connsiteX11" fmla="*/ 2672421 w 12192418"/>
              <a:gd name="connsiteY11" fmla="*/ 349608 h 5095933"/>
              <a:gd name="connsiteX12" fmla="*/ 3057678 w 12192418"/>
              <a:gd name="connsiteY12" fmla="*/ 383588 h 5095933"/>
              <a:gd name="connsiteX13" fmla="*/ 3464881 w 12192418"/>
              <a:gd name="connsiteY13" fmla="*/ 414415 h 5095933"/>
              <a:gd name="connsiteX14" fmla="*/ 3889152 w 12192418"/>
              <a:gd name="connsiteY14" fmla="*/ 443841 h 5095933"/>
              <a:gd name="connsiteX15" fmla="*/ 4331710 w 12192418"/>
              <a:gd name="connsiteY15" fmla="*/ 471515 h 5095933"/>
              <a:gd name="connsiteX16" fmla="*/ 4558476 w 12192418"/>
              <a:gd name="connsiteY16" fmla="*/ 481324 h 5095933"/>
              <a:gd name="connsiteX17" fmla="*/ 4790118 w 12192418"/>
              <a:gd name="connsiteY17" fmla="*/ 492183 h 5095933"/>
              <a:gd name="connsiteX18" fmla="*/ 5025418 w 12192418"/>
              <a:gd name="connsiteY18" fmla="*/ 502342 h 5095933"/>
              <a:gd name="connsiteX19" fmla="*/ 5261937 w 12192418"/>
              <a:gd name="connsiteY19" fmla="*/ 508998 h 5095933"/>
              <a:gd name="connsiteX20" fmla="*/ 5503332 w 12192418"/>
              <a:gd name="connsiteY20" fmla="*/ 514953 h 5095933"/>
              <a:gd name="connsiteX21" fmla="*/ 5747167 w 12192418"/>
              <a:gd name="connsiteY21" fmla="*/ 521259 h 5095933"/>
              <a:gd name="connsiteX22" fmla="*/ 5995877 w 12192418"/>
              <a:gd name="connsiteY22" fmla="*/ 525463 h 5095933"/>
              <a:gd name="connsiteX23" fmla="*/ 6247026 w 12192418"/>
              <a:gd name="connsiteY23" fmla="*/ 525463 h 5095933"/>
              <a:gd name="connsiteX24" fmla="*/ 6500613 w 12192418"/>
              <a:gd name="connsiteY24" fmla="*/ 527565 h 5095933"/>
              <a:gd name="connsiteX25" fmla="*/ 6756639 w 12192418"/>
              <a:gd name="connsiteY25" fmla="*/ 525463 h 5095933"/>
              <a:gd name="connsiteX26" fmla="*/ 7016322 w 12192418"/>
              <a:gd name="connsiteY26" fmla="*/ 521259 h 5095933"/>
              <a:gd name="connsiteX27" fmla="*/ 7276005 w 12192418"/>
              <a:gd name="connsiteY27" fmla="*/ 517406 h 5095933"/>
              <a:gd name="connsiteX28" fmla="*/ 7539345 w 12192418"/>
              <a:gd name="connsiteY28" fmla="*/ 508998 h 5095933"/>
              <a:gd name="connsiteX29" fmla="*/ 7805124 w 12192418"/>
              <a:gd name="connsiteY29" fmla="*/ 500241 h 5095933"/>
              <a:gd name="connsiteX30" fmla="*/ 8070903 w 12192418"/>
              <a:gd name="connsiteY30" fmla="*/ 490082 h 5095933"/>
              <a:gd name="connsiteX31" fmla="*/ 8339121 w 12192418"/>
              <a:gd name="connsiteY31" fmla="*/ 475719 h 5095933"/>
              <a:gd name="connsiteX32" fmla="*/ 8609776 w 12192418"/>
              <a:gd name="connsiteY32" fmla="*/ 458554 h 5095933"/>
              <a:gd name="connsiteX33" fmla="*/ 8881651 w 12192418"/>
              <a:gd name="connsiteY33" fmla="*/ 442089 h 5095933"/>
              <a:gd name="connsiteX34" fmla="*/ 9153526 w 12192418"/>
              <a:gd name="connsiteY34" fmla="*/ 421071 h 5095933"/>
              <a:gd name="connsiteX35" fmla="*/ 9429058 w 12192418"/>
              <a:gd name="connsiteY35" fmla="*/ 395849 h 5095933"/>
              <a:gd name="connsiteX36" fmla="*/ 9700933 w 12192418"/>
              <a:gd name="connsiteY36" fmla="*/ 370626 h 5095933"/>
              <a:gd name="connsiteX37" fmla="*/ 9977684 w 12192418"/>
              <a:gd name="connsiteY37" fmla="*/ 341551 h 5095933"/>
              <a:gd name="connsiteX38" fmla="*/ 10255655 w 12192418"/>
              <a:gd name="connsiteY38" fmla="*/ 309673 h 5095933"/>
              <a:gd name="connsiteX39" fmla="*/ 10529968 w 12192418"/>
              <a:gd name="connsiteY39" fmla="*/ 276043 h 5095933"/>
              <a:gd name="connsiteX40" fmla="*/ 10807939 w 12192418"/>
              <a:gd name="connsiteY40" fmla="*/ 236809 h 5095933"/>
              <a:gd name="connsiteX41" fmla="*/ 11084690 w 12192418"/>
              <a:gd name="connsiteY41" fmla="*/ 194772 h 5095933"/>
              <a:gd name="connsiteX42" fmla="*/ 11362661 w 12192418"/>
              <a:gd name="connsiteY42" fmla="*/ 153085 h 5095933"/>
              <a:gd name="connsiteX43" fmla="*/ 11639412 w 12192418"/>
              <a:gd name="connsiteY43" fmla="*/ 104392 h 5095933"/>
              <a:gd name="connsiteX44" fmla="*/ 11914945 w 12192418"/>
              <a:gd name="connsiteY44" fmla="*/ 54648 h 5095933"/>
              <a:gd name="connsiteX45" fmla="*/ 12191696 w 12192418"/>
              <a:gd name="connsiteY45" fmla="*/ 2452 h 5095933"/>
              <a:gd name="connsiteX46" fmla="*/ 12191696 w 12192418"/>
              <a:gd name="connsiteY46" fmla="*/ 2109542 h 5095933"/>
              <a:gd name="connsiteX47" fmla="*/ 12191999 w 12192418"/>
              <a:gd name="connsiteY47" fmla="*/ 2109542 h 5095933"/>
              <a:gd name="connsiteX48" fmla="*/ 12191999 w 12192418"/>
              <a:gd name="connsiteY48" fmla="*/ 2802467 h 5095933"/>
              <a:gd name="connsiteX49" fmla="*/ 12192418 w 12192418"/>
              <a:gd name="connsiteY49" fmla="*/ 2802467 h 5095933"/>
              <a:gd name="connsiteX50" fmla="*/ 12192418 w 12192418"/>
              <a:gd name="connsiteY50" fmla="*/ 5095933 h 5095933"/>
              <a:gd name="connsiteX51" fmla="*/ 1 w 12192418"/>
              <a:gd name="connsiteY51" fmla="*/ 5095933 h 5095933"/>
              <a:gd name="connsiteX52" fmla="*/ 1 w 12192418"/>
              <a:gd name="connsiteY52" fmla="*/ 4074529 h 5095933"/>
              <a:gd name="connsiteX53" fmla="*/ 0 w 12192418"/>
              <a:gd name="connsiteY53" fmla="*/ 4074529 h 5095933"/>
              <a:gd name="connsiteX54" fmla="*/ 0 w 12192418"/>
              <a:gd name="connsiteY54" fmla="*/ 2109542 h 5095933"/>
              <a:gd name="connsiteX55" fmla="*/ 1 w 12192418"/>
              <a:gd name="connsiteY55" fmla="*/ 2109542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2192418" h="5095933">
                <a:moveTo>
                  <a:pt x="1" y="0"/>
                </a:moveTo>
                <a:lnTo>
                  <a:pt x="71932" y="12261"/>
                </a:lnTo>
                <a:lnTo>
                  <a:pt x="282849" y="48343"/>
                </a:lnTo>
                <a:lnTo>
                  <a:pt x="436464" y="73565"/>
                </a:lnTo>
                <a:lnTo>
                  <a:pt x="619339" y="100188"/>
                </a:lnTo>
                <a:lnTo>
                  <a:pt x="836351" y="132066"/>
                </a:lnTo>
                <a:lnTo>
                  <a:pt x="1076528" y="165696"/>
                </a:lnTo>
                <a:lnTo>
                  <a:pt x="1347184" y="201077"/>
                </a:lnTo>
                <a:lnTo>
                  <a:pt x="1642223" y="238560"/>
                </a:lnTo>
                <a:lnTo>
                  <a:pt x="1962864" y="276043"/>
                </a:lnTo>
                <a:lnTo>
                  <a:pt x="2304232" y="314227"/>
                </a:lnTo>
                <a:lnTo>
                  <a:pt x="2672421" y="349608"/>
                </a:lnTo>
                <a:lnTo>
                  <a:pt x="3057678" y="383588"/>
                </a:lnTo>
                <a:lnTo>
                  <a:pt x="3464881" y="414415"/>
                </a:lnTo>
                <a:lnTo>
                  <a:pt x="3889152" y="443841"/>
                </a:lnTo>
                <a:lnTo>
                  <a:pt x="4331710" y="471515"/>
                </a:lnTo>
                <a:lnTo>
                  <a:pt x="4558476" y="481324"/>
                </a:lnTo>
                <a:lnTo>
                  <a:pt x="4790118" y="492183"/>
                </a:lnTo>
                <a:lnTo>
                  <a:pt x="5025418" y="502342"/>
                </a:lnTo>
                <a:lnTo>
                  <a:pt x="5261937" y="508998"/>
                </a:lnTo>
                <a:lnTo>
                  <a:pt x="5503332" y="514953"/>
                </a:lnTo>
                <a:lnTo>
                  <a:pt x="5747167" y="521259"/>
                </a:lnTo>
                <a:lnTo>
                  <a:pt x="5995877" y="525463"/>
                </a:lnTo>
                <a:lnTo>
                  <a:pt x="6247026" y="525463"/>
                </a:lnTo>
                <a:lnTo>
                  <a:pt x="6500613" y="527565"/>
                </a:lnTo>
                <a:lnTo>
                  <a:pt x="6756639" y="525463"/>
                </a:lnTo>
                <a:lnTo>
                  <a:pt x="7016322" y="521259"/>
                </a:lnTo>
                <a:lnTo>
                  <a:pt x="7276005" y="517406"/>
                </a:lnTo>
                <a:lnTo>
                  <a:pt x="7539345" y="508998"/>
                </a:lnTo>
                <a:lnTo>
                  <a:pt x="7805124" y="500241"/>
                </a:lnTo>
                <a:lnTo>
                  <a:pt x="8070903" y="490082"/>
                </a:lnTo>
                <a:lnTo>
                  <a:pt x="8339121" y="475719"/>
                </a:lnTo>
                <a:lnTo>
                  <a:pt x="8609776" y="458554"/>
                </a:lnTo>
                <a:lnTo>
                  <a:pt x="8881651" y="442089"/>
                </a:lnTo>
                <a:lnTo>
                  <a:pt x="9153526" y="421071"/>
                </a:lnTo>
                <a:lnTo>
                  <a:pt x="9429058" y="395849"/>
                </a:lnTo>
                <a:lnTo>
                  <a:pt x="9700933" y="370626"/>
                </a:lnTo>
                <a:lnTo>
                  <a:pt x="9977684" y="341551"/>
                </a:lnTo>
                <a:lnTo>
                  <a:pt x="10255655" y="309673"/>
                </a:lnTo>
                <a:lnTo>
                  <a:pt x="10529968" y="276043"/>
                </a:lnTo>
                <a:lnTo>
                  <a:pt x="10807939" y="236809"/>
                </a:lnTo>
                <a:lnTo>
                  <a:pt x="11084690" y="194772"/>
                </a:lnTo>
                <a:lnTo>
                  <a:pt x="11362661" y="153085"/>
                </a:lnTo>
                <a:lnTo>
                  <a:pt x="11639412" y="104392"/>
                </a:lnTo>
                <a:lnTo>
                  <a:pt x="11914945" y="54648"/>
                </a:lnTo>
                <a:lnTo>
                  <a:pt x="12191696" y="2452"/>
                </a:lnTo>
                <a:lnTo>
                  <a:pt x="12191696" y="2109542"/>
                </a:lnTo>
                <a:lnTo>
                  <a:pt x="12191999" y="2109542"/>
                </a:lnTo>
                <a:lnTo>
                  <a:pt x="12191999" y="2802467"/>
                </a:lnTo>
                <a:lnTo>
                  <a:pt x="12192418" y="2802467"/>
                </a:lnTo>
                <a:lnTo>
                  <a:pt x="12192418" y="5095933"/>
                </a:lnTo>
                <a:lnTo>
                  <a:pt x="1" y="5095933"/>
                </a:lnTo>
                <a:lnTo>
                  <a:pt x="1" y="4074529"/>
                </a:lnTo>
                <a:lnTo>
                  <a:pt x="0" y="4074529"/>
                </a:lnTo>
                <a:lnTo>
                  <a:pt x="0" y="2109542"/>
                </a:lnTo>
                <a:lnTo>
                  <a:pt x="1" y="2109542"/>
                </a:lnTo>
                <a:close/>
              </a:path>
            </a:pathLst>
          </a:custGeom>
          <a:solidFill>
            <a:schemeClr val="bg1"/>
          </a:solidFill>
          <a:ln>
            <a:noFill/>
          </a:ln>
        </p:spPr>
        <p:txBody>
          <a:bodyPr/>
          <a:lstStyle/>
          <a:p>
            <a:endParaRPr lang="en-GB"/>
          </a:p>
        </p:txBody>
      </p:sp>
      <p:graphicFrame>
        <p:nvGraphicFramePr>
          <p:cNvPr id="5" name="Content Placeholder 2">
            <a:extLst>
              <a:ext uri="{FF2B5EF4-FFF2-40B4-BE49-F238E27FC236}">
                <a16:creationId xmlns:a16="http://schemas.microsoft.com/office/drawing/2014/main" id="{54BA2F76-D084-36F2-D6A8-D68A66AC497B}"/>
              </a:ext>
            </a:extLst>
          </p:cNvPr>
          <p:cNvGraphicFramePr>
            <a:graphicFrameLocks noGrp="1"/>
          </p:cNvGraphicFramePr>
          <p:nvPr>
            <p:ph idx="1"/>
            <p:extLst>
              <p:ext uri="{D42A27DB-BD31-4B8C-83A1-F6EECF244321}">
                <p14:modId xmlns:p14="http://schemas.microsoft.com/office/powerpoint/2010/main" val="2112111117"/>
              </p:ext>
            </p:extLst>
          </p:nvPr>
        </p:nvGraphicFramePr>
        <p:xfrm>
          <a:off x="648930" y="2810256"/>
          <a:ext cx="10895370" cy="340427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63168577"/>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POS System Requirements</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791119043"/>
              </p:ext>
            </p:extLst>
          </p:nvPr>
        </p:nvGraphicFramePr>
        <p:xfrm>
          <a:off x="62887" y="1152983"/>
          <a:ext cx="12041190" cy="5458957"/>
        </p:xfrm>
        <a:graphic>
          <a:graphicData uri="http://schemas.openxmlformats.org/drawingml/2006/table">
            <a:tbl>
              <a:tblPr firstRow="1" bandRow="1">
                <a:tableStyleId>{073A0DAA-6AF3-43AB-8588-CEC1D06C72B9}</a:tableStyleId>
              </a:tblPr>
              <a:tblGrid>
                <a:gridCol w="2070713">
                  <a:extLst>
                    <a:ext uri="{9D8B030D-6E8A-4147-A177-3AD203B41FA5}">
                      <a16:colId xmlns:a16="http://schemas.microsoft.com/office/drawing/2014/main" val="1682483982"/>
                    </a:ext>
                  </a:extLst>
                </a:gridCol>
                <a:gridCol w="2919047">
                  <a:extLst>
                    <a:ext uri="{9D8B030D-6E8A-4147-A177-3AD203B41FA5}">
                      <a16:colId xmlns:a16="http://schemas.microsoft.com/office/drawing/2014/main" val="2154316661"/>
                    </a:ext>
                  </a:extLst>
                </a:gridCol>
                <a:gridCol w="7051430">
                  <a:extLst>
                    <a:ext uri="{9D8B030D-6E8A-4147-A177-3AD203B41FA5}">
                      <a16:colId xmlns:a16="http://schemas.microsoft.com/office/drawing/2014/main" val="2040521615"/>
                    </a:ext>
                  </a:extLst>
                </a:gridCol>
              </a:tblGrid>
              <a:tr h="448407">
                <a:tc>
                  <a:txBody>
                    <a:bodyPr/>
                    <a:lstStyle/>
                    <a:p>
                      <a:r>
                        <a:rPr lang="en-GB" dirty="0"/>
                        <a:t>Category</a:t>
                      </a:r>
                      <a:endParaRPr lang="en-US" dirty="0"/>
                    </a:p>
                  </a:txBody>
                  <a:tcPr/>
                </a:tc>
                <a:tc>
                  <a:txBody>
                    <a:bodyPr/>
                    <a:lstStyle/>
                    <a:p>
                      <a:r>
                        <a:rPr lang="en-GB" dirty="0"/>
                        <a:t>Requirements Area</a:t>
                      </a:r>
                      <a:endParaRPr lang="en-US" dirty="0"/>
                    </a:p>
                  </a:txBody>
                  <a:tcPr/>
                </a:tc>
                <a:tc>
                  <a:txBody>
                    <a:bodyPr/>
                    <a:lstStyle/>
                    <a:p>
                      <a:r>
                        <a:rPr lang="en-GB" dirty="0"/>
                        <a:t>Description </a:t>
                      </a:r>
                      <a:endParaRPr lang="en-US" dirty="0"/>
                    </a:p>
                  </a:txBody>
                  <a:tcPr/>
                </a:tc>
                <a:extLst>
                  <a:ext uri="{0D108BD9-81ED-4DB2-BD59-A6C34878D82A}">
                    <a16:rowId xmlns:a16="http://schemas.microsoft.com/office/drawing/2014/main" val="1214999275"/>
                  </a:ext>
                </a:extLst>
              </a:tr>
              <a:tr h="644910">
                <a:tc>
                  <a:txBody>
                    <a:bodyPr/>
                    <a:lstStyle/>
                    <a:p>
                      <a:r>
                        <a:rPr lang="en-GB" dirty="0"/>
                        <a:t>Functional</a:t>
                      </a:r>
                      <a:endParaRPr lang="en-US" dirty="0"/>
                    </a:p>
                  </a:txBody>
                  <a:tcPr/>
                </a:tc>
                <a:tc>
                  <a:txBody>
                    <a:bodyPr/>
                    <a:lstStyle/>
                    <a:p>
                      <a:r>
                        <a:rPr lang="en-GB" dirty="0"/>
                        <a:t>Sales processing </a:t>
                      </a:r>
                      <a:endParaRPr lang="en-US" dirty="0"/>
                    </a:p>
                  </a:txBody>
                  <a:tcPr/>
                </a:tc>
                <a:tc>
                  <a:txBody>
                    <a:bodyPr/>
                    <a:lstStyle/>
                    <a:p>
                      <a:r>
                        <a:rPr lang="en-GB" dirty="0"/>
                        <a:t>Scan items, calculate</a:t>
                      </a:r>
                      <a:r>
                        <a:rPr lang="en-GB" baseline="0" dirty="0"/>
                        <a:t> totals(tax), apply discounts, accept payments, generate receipts.</a:t>
                      </a:r>
                      <a:endParaRPr lang="en-US" dirty="0"/>
                    </a:p>
                  </a:txBody>
                  <a:tcPr/>
                </a:tc>
                <a:extLst>
                  <a:ext uri="{0D108BD9-81ED-4DB2-BD59-A6C34878D82A}">
                    <a16:rowId xmlns:a16="http://schemas.microsoft.com/office/drawing/2014/main" val="3147058508"/>
                  </a:ext>
                </a:extLst>
              </a:tr>
              <a:tr h="644910">
                <a:tc>
                  <a:txBody>
                    <a:bodyPr/>
                    <a:lstStyle/>
                    <a:p>
                      <a:r>
                        <a:rPr lang="en-GB" dirty="0"/>
                        <a:t>Functional</a:t>
                      </a:r>
                      <a:endParaRPr lang="en-US" dirty="0"/>
                    </a:p>
                  </a:txBody>
                  <a:tcPr/>
                </a:tc>
                <a:tc>
                  <a:txBody>
                    <a:bodyPr/>
                    <a:lstStyle/>
                    <a:p>
                      <a:r>
                        <a:rPr lang="en-GB" dirty="0"/>
                        <a:t>Inventory management </a:t>
                      </a:r>
                      <a:endParaRPr lang="en-US" dirty="0"/>
                    </a:p>
                  </a:txBody>
                  <a:tcPr/>
                </a:tc>
                <a:tc>
                  <a:txBody>
                    <a:bodyPr/>
                    <a:lstStyle/>
                    <a:p>
                      <a:r>
                        <a:rPr lang="en-GB" dirty="0"/>
                        <a:t>Add/update/delete products,</a:t>
                      </a:r>
                      <a:r>
                        <a:rPr lang="en-GB" baseline="0" dirty="0"/>
                        <a:t> track stock levels, manage size and </a:t>
                      </a:r>
                      <a:r>
                        <a:rPr lang="en-GB" baseline="0" dirty="0" err="1"/>
                        <a:t>colors</a:t>
                      </a:r>
                      <a:endParaRPr lang="en-US" dirty="0"/>
                    </a:p>
                  </a:txBody>
                  <a:tcPr/>
                </a:tc>
                <a:extLst>
                  <a:ext uri="{0D108BD9-81ED-4DB2-BD59-A6C34878D82A}">
                    <a16:rowId xmlns:a16="http://schemas.microsoft.com/office/drawing/2014/main" val="3789900839"/>
                  </a:ext>
                </a:extLst>
              </a:tr>
              <a:tr h="372073">
                <a:tc>
                  <a:txBody>
                    <a:bodyPr/>
                    <a:lstStyle/>
                    <a:p>
                      <a:r>
                        <a:rPr lang="en-GB" dirty="0"/>
                        <a:t>Functional</a:t>
                      </a:r>
                      <a:endParaRPr lang="en-US" dirty="0"/>
                    </a:p>
                  </a:txBody>
                  <a:tcPr/>
                </a:tc>
                <a:tc>
                  <a:txBody>
                    <a:bodyPr/>
                    <a:lstStyle/>
                    <a:p>
                      <a:r>
                        <a:rPr lang="en-GB" dirty="0"/>
                        <a:t>Return and exchanges</a:t>
                      </a:r>
                      <a:endParaRPr lang="en-US" dirty="0"/>
                    </a:p>
                  </a:txBody>
                  <a:tcPr/>
                </a:tc>
                <a:tc>
                  <a:txBody>
                    <a:bodyPr/>
                    <a:lstStyle/>
                    <a:p>
                      <a:r>
                        <a:rPr lang="en-GB" dirty="0"/>
                        <a:t>Process returns and exchanges</a:t>
                      </a:r>
                      <a:endParaRPr lang="en-US" dirty="0"/>
                    </a:p>
                  </a:txBody>
                  <a:tcPr/>
                </a:tc>
                <a:extLst>
                  <a:ext uri="{0D108BD9-81ED-4DB2-BD59-A6C34878D82A}">
                    <a16:rowId xmlns:a16="http://schemas.microsoft.com/office/drawing/2014/main" val="4090891052"/>
                  </a:ext>
                </a:extLst>
              </a:tr>
              <a:tr h="372073">
                <a:tc>
                  <a:txBody>
                    <a:bodyPr/>
                    <a:lstStyle/>
                    <a:p>
                      <a:r>
                        <a:rPr lang="en-GB" dirty="0"/>
                        <a:t>Functional</a:t>
                      </a:r>
                      <a:endParaRPr lang="en-US" dirty="0"/>
                    </a:p>
                  </a:txBody>
                  <a:tcPr/>
                </a:tc>
                <a:tc>
                  <a:txBody>
                    <a:bodyPr/>
                    <a:lstStyle/>
                    <a:p>
                      <a:r>
                        <a:rPr lang="en-GB" dirty="0"/>
                        <a:t>Reporting</a:t>
                      </a:r>
                      <a:endParaRPr lang="en-US" dirty="0"/>
                    </a:p>
                  </a:txBody>
                  <a:tcPr/>
                </a:tc>
                <a:tc>
                  <a:txBody>
                    <a:bodyPr/>
                    <a:lstStyle/>
                    <a:p>
                      <a:r>
                        <a:rPr lang="en-GB" dirty="0"/>
                        <a:t>Generate</a:t>
                      </a:r>
                      <a:r>
                        <a:rPr lang="en-GB" baseline="0" dirty="0"/>
                        <a:t> sales and inventory reports </a:t>
                      </a:r>
                      <a:endParaRPr lang="en-US" dirty="0"/>
                    </a:p>
                  </a:txBody>
                  <a:tcPr/>
                </a:tc>
                <a:extLst>
                  <a:ext uri="{0D108BD9-81ED-4DB2-BD59-A6C34878D82A}">
                    <a16:rowId xmlns:a16="http://schemas.microsoft.com/office/drawing/2014/main" val="222519342"/>
                  </a:ext>
                </a:extLst>
              </a:tr>
              <a:tr h="372073">
                <a:tc>
                  <a:txBody>
                    <a:bodyPr/>
                    <a:lstStyle/>
                    <a:p>
                      <a:r>
                        <a:rPr lang="en-GB" dirty="0"/>
                        <a:t>Functional</a:t>
                      </a:r>
                      <a:endParaRPr lang="en-US" dirty="0"/>
                    </a:p>
                  </a:txBody>
                  <a:tcPr/>
                </a:tc>
                <a:tc>
                  <a:txBody>
                    <a:bodyPr/>
                    <a:lstStyle/>
                    <a:p>
                      <a:r>
                        <a:rPr lang="en-GB" dirty="0"/>
                        <a:t>Customer management </a:t>
                      </a:r>
                      <a:endParaRPr lang="en-US" dirty="0"/>
                    </a:p>
                  </a:txBody>
                  <a:tcPr/>
                </a:tc>
                <a:tc>
                  <a:txBody>
                    <a:bodyPr/>
                    <a:lstStyle/>
                    <a:p>
                      <a:r>
                        <a:rPr lang="en-GB" dirty="0"/>
                        <a:t>Store customer details and truck purchase history</a:t>
                      </a:r>
                      <a:endParaRPr lang="en-US" dirty="0"/>
                    </a:p>
                  </a:txBody>
                  <a:tcPr/>
                </a:tc>
                <a:extLst>
                  <a:ext uri="{0D108BD9-81ED-4DB2-BD59-A6C34878D82A}">
                    <a16:rowId xmlns:a16="http://schemas.microsoft.com/office/drawing/2014/main" val="4249742224"/>
                  </a:ext>
                </a:extLst>
              </a:tr>
              <a:tr h="372073">
                <a:tc>
                  <a:txBody>
                    <a:bodyPr/>
                    <a:lstStyle/>
                    <a:p>
                      <a:r>
                        <a:rPr lang="en-GB" dirty="0"/>
                        <a:t>Non Functional</a:t>
                      </a:r>
                      <a:endParaRPr lang="en-US" dirty="0"/>
                    </a:p>
                  </a:txBody>
                  <a:tcPr/>
                </a:tc>
                <a:tc>
                  <a:txBody>
                    <a:bodyPr/>
                    <a:lstStyle/>
                    <a:p>
                      <a:r>
                        <a:rPr lang="en-GB" dirty="0" err="1"/>
                        <a:t>Perfomance</a:t>
                      </a:r>
                      <a:r>
                        <a:rPr lang="en-GB" dirty="0"/>
                        <a:t> </a:t>
                      </a:r>
                      <a:endParaRPr lang="en-US" dirty="0"/>
                    </a:p>
                  </a:txBody>
                  <a:tcPr/>
                </a:tc>
                <a:tc>
                  <a:txBody>
                    <a:bodyPr/>
                    <a:lstStyle/>
                    <a:p>
                      <a:r>
                        <a:rPr lang="en-GB" dirty="0"/>
                        <a:t>Fast transaction processing( within seconds)</a:t>
                      </a:r>
                      <a:endParaRPr lang="en-US" dirty="0"/>
                    </a:p>
                  </a:txBody>
                  <a:tcPr/>
                </a:tc>
                <a:extLst>
                  <a:ext uri="{0D108BD9-81ED-4DB2-BD59-A6C34878D82A}">
                    <a16:rowId xmlns:a16="http://schemas.microsoft.com/office/drawing/2014/main" val="829535377"/>
                  </a:ext>
                </a:extLst>
              </a:tr>
              <a:tr h="372073">
                <a:tc>
                  <a:txBody>
                    <a:bodyPr/>
                    <a:lstStyle/>
                    <a:p>
                      <a:r>
                        <a:rPr lang="en-GB" dirty="0"/>
                        <a:t>Non Functional</a:t>
                      </a:r>
                      <a:endParaRPr lang="en-US" dirty="0"/>
                    </a:p>
                  </a:txBody>
                  <a:tcPr/>
                </a:tc>
                <a:tc>
                  <a:txBody>
                    <a:bodyPr/>
                    <a:lstStyle/>
                    <a:p>
                      <a:r>
                        <a:rPr lang="en-GB" dirty="0"/>
                        <a:t>Security</a:t>
                      </a:r>
                      <a:endParaRPr lang="en-US" dirty="0"/>
                    </a:p>
                  </a:txBody>
                  <a:tcPr/>
                </a:tc>
                <a:tc>
                  <a:txBody>
                    <a:bodyPr/>
                    <a:lstStyle/>
                    <a:p>
                      <a:r>
                        <a:rPr lang="en-GB" dirty="0"/>
                        <a:t>Secure authentication and encrypted payment data</a:t>
                      </a:r>
                      <a:endParaRPr lang="en-US" dirty="0"/>
                    </a:p>
                  </a:txBody>
                  <a:tcPr/>
                </a:tc>
                <a:extLst>
                  <a:ext uri="{0D108BD9-81ED-4DB2-BD59-A6C34878D82A}">
                    <a16:rowId xmlns:a16="http://schemas.microsoft.com/office/drawing/2014/main" val="1264536996"/>
                  </a:ext>
                </a:extLst>
              </a:tr>
              <a:tr h="372073">
                <a:tc>
                  <a:txBody>
                    <a:bodyPr/>
                    <a:lstStyle/>
                    <a:p>
                      <a:r>
                        <a:rPr lang="en-GB" dirty="0"/>
                        <a:t>Non Functional</a:t>
                      </a:r>
                      <a:endParaRPr lang="en-US" dirty="0"/>
                    </a:p>
                  </a:txBody>
                  <a:tcPr/>
                </a:tc>
                <a:tc>
                  <a:txBody>
                    <a:bodyPr/>
                    <a:lstStyle/>
                    <a:p>
                      <a:r>
                        <a:rPr lang="en-GB" dirty="0"/>
                        <a:t>Reliability</a:t>
                      </a:r>
                      <a:endParaRPr lang="en-US" dirty="0"/>
                    </a:p>
                  </a:txBody>
                  <a:tcPr/>
                </a:tc>
                <a:tc>
                  <a:txBody>
                    <a:bodyPr/>
                    <a:lstStyle/>
                    <a:p>
                      <a:r>
                        <a:rPr lang="en-GB" dirty="0"/>
                        <a:t>High system uptime and automatic data</a:t>
                      </a:r>
                      <a:r>
                        <a:rPr lang="en-GB" baseline="0" dirty="0"/>
                        <a:t> backups </a:t>
                      </a:r>
                      <a:endParaRPr lang="en-US" dirty="0"/>
                    </a:p>
                  </a:txBody>
                  <a:tcPr/>
                </a:tc>
                <a:extLst>
                  <a:ext uri="{0D108BD9-81ED-4DB2-BD59-A6C34878D82A}">
                    <a16:rowId xmlns:a16="http://schemas.microsoft.com/office/drawing/2014/main" val="1423792757"/>
                  </a:ext>
                </a:extLst>
              </a:tr>
              <a:tr h="372073">
                <a:tc>
                  <a:txBody>
                    <a:bodyPr/>
                    <a:lstStyle/>
                    <a:p>
                      <a:r>
                        <a:rPr lang="en-GB" dirty="0"/>
                        <a:t>Non</a:t>
                      </a:r>
                      <a:r>
                        <a:rPr lang="en-GB" baseline="0" dirty="0"/>
                        <a:t> Functional</a:t>
                      </a:r>
                      <a:endParaRPr lang="en-US" dirty="0"/>
                    </a:p>
                  </a:txBody>
                  <a:tcPr/>
                </a:tc>
                <a:tc>
                  <a:txBody>
                    <a:bodyPr/>
                    <a:lstStyle/>
                    <a:p>
                      <a:r>
                        <a:rPr lang="en-GB" dirty="0"/>
                        <a:t>Usability</a:t>
                      </a:r>
                      <a:endParaRPr lang="en-US" dirty="0"/>
                    </a:p>
                  </a:txBody>
                  <a:tcPr/>
                </a:tc>
                <a:tc>
                  <a:txBody>
                    <a:bodyPr/>
                    <a:lstStyle/>
                    <a:p>
                      <a:r>
                        <a:rPr lang="en-GB" dirty="0"/>
                        <a:t>Easy to use and intuitive</a:t>
                      </a:r>
                      <a:r>
                        <a:rPr lang="en-GB" baseline="0" dirty="0"/>
                        <a:t> interface </a:t>
                      </a:r>
                      <a:endParaRPr lang="en-US" dirty="0"/>
                    </a:p>
                  </a:txBody>
                  <a:tcPr/>
                </a:tc>
                <a:extLst>
                  <a:ext uri="{0D108BD9-81ED-4DB2-BD59-A6C34878D82A}">
                    <a16:rowId xmlns:a16="http://schemas.microsoft.com/office/drawing/2014/main" val="1761533613"/>
                  </a:ext>
                </a:extLst>
              </a:tr>
              <a:tr h="372073">
                <a:tc>
                  <a:txBody>
                    <a:bodyPr/>
                    <a:lstStyle/>
                    <a:p>
                      <a:r>
                        <a:rPr lang="en-GB" dirty="0"/>
                        <a:t>Non Functional</a:t>
                      </a:r>
                      <a:endParaRPr lang="en-US" dirty="0"/>
                    </a:p>
                  </a:txBody>
                  <a:tcPr/>
                </a:tc>
                <a:tc>
                  <a:txBody>
                    <a:bodyPr/>
                    <a:lstStyle/>
                    <a:p>
                      <a:r>
                        <a:rPr lang="en-GB" dirty="0"/>
                        <a:t>Scalability</a:t>
                      </a:r>
                      <a:endParaRPr lang="en-US" dirty="0"/>
                    </a:p>
                  </a:txBody>
                  <a:tcPr/>
                </a:tc>
                <a:tc>
                  <a:txBody>
                    <a:bodyPr/>
                    <a:lstStyle/>
                    <a:p>
                      <a:r>
                        <a:rPr lang="en-GB" dirty="0"/>
                        <a:t>Support multiple</a:t>
                      </a:r>
                      <a:r>
                        <a:rPr lang="en-GB" baseline="0" dirty="0"/>
                        <a:t> stores and system growth</a:t>
                      </a:r>
                      <a:endParaRPr lang="en-US" dirty="0"/>
                    </a:p>
                  </a:txBody>
                  <a:tcPr/>
                </a:tc>
                <a:extLst>
                  <a:ext uri="{0D108BD9-81ED-4DB2-BD59-A6C34878D82A}">
                    <a16:rowId xmlns:a16="http://schemas.microsoft.com/office/drawing/2014/main" val="3705904994"/>
                  </a:ext>
                </a:extLst>
              </a:tr>
              <a:tr h="372073">
                <a:tc>
                  <a:txBody>
                    <a:bodyPr/>
                    <a:lstStyle/>
                    <a:p>
                      <a:r>
                        <a:rPr lang="en-GB" dirty="0"/>
                        <a:t>Non functional</a:t>
                      </a:r>
                      <a:endParaRPr lang="en-US" dirty="0"/>
                    </a:p>
                  </a:txBody>
                  <a:tcPr/>
                </a:tc>
                <a:tc>
                  <a:txBody>
                    <a:bodyPr/>
                    <a:lstStyle/>
                    <a:p>
                      <a:r>
                        <a:rPr lang="en-GB" dirty="0"/>
                        <a:t>Compatibility</a:t>
                      </a:r>
                      <a:endParaRPr lang="en-US" dirty="0"/>
                    </a:p>
                  </a:txBody>
                  <a:tcPr/>
                </a:tc>
                <a:tc>
                  <a:txBody>
                    <a:bodyPr/>
                    <a:lstStyle/>
                    <a:p>
                      <a:r>
                        <a:rPr lang="en-GB" dirty="0"/>
                        <a:t>Work with barcode</a:t>
                      </a:r>
                      <a:r>
                        <a:rPr lang="en-GB" baseline="0" dirty="0"/>
                        <a:t> scanners, printers, and different OS</a:t>
                      </a:r>
                      <a:endParaRPr lang="en-US" dirty="0"/>
                    </a:p>
                  </a:txBody>
                  <a:tcPr/>
                </a:tc>
                <a:extLst>
                  <a:ext uri="{0D108BD9-81ED-4DB2-BD59-A6C34878D82A}">
                    <a16:rowId xmlns:a16="http://schemas.microsoft.com/office/drawing/2014/main" val="3315070759"/>
                  </a:ext>
                </a:extLst>
              </a:tr>
              <a:tr h="372073">
                <a:tc>
                  <a:txBody>
                    <a:bodyPr/>
                    <a:lstStyle/>
                    <a:p>
                      <a:r>
                        <a:rPr lang="en-GB" dirty="0"/>
                        <a:t>Non Functional</a:t>
                      </a:r>
                      <a:endParaRPr lang="en-US" dirty="0"/>
                    </a:p>
                  </a:txBody>
                  <a:tcPr/>
                </a:tc>
                <a:tc>
                  <a:txBody>
                    <a:bodyPr/>
                    <a:lstStyle/>
                    <a:p>
                      <a:r>
                        <a:rPr lang="en-GB" dirty="0" err="1"/>
                        <a:t>Maintenability</a:t>
                      </a:r>
                      <a:endParaRPr lang="en-US" dirty="0"/>
                    </a:p>
                  </a:txBody>
                  <a:tcPr/>
                </a:tc>
                <a:tc>
                  <a:txBody>
                    <a:bodyPr/>
                    <a:lstStyle/>
                    <a:p>
                      <a:r>
                        <a:rPr lang="en-GB" dirty="0"/>
                        <a:t>Easy to update, maintain and fix errors</a:t>
                      </a:r>
                      <a:endParaRPr lang="en-US" dirty="0"/>
                    </a:p>
                  </a:txBody>
                  <a:tcPr/>
                </a:tc>
                <a:extLst>
                  <a:ext uri="{0D108BD9-81ED-4DB2-BD59-A6C34878D82A}">
                    <a16:rowId xmlns:a16="http://schemas.microsoft.com/office/drawing/2014/main" val="1621543271"/>
                  </a:ext>
                </a:extLst>
              </a:tr>
            </a:tbl>
          </a:graphicData>
        </a:graphic>
      </p:graphicFrame>
    </p:spTree>
    <p:extLst>
      <p:ext uri="{BB962C8B-B14F-4D97-AF65-F5344CB8AC3E}">
        <p14:creationId xmlns:p14="http://schemas.microsoft.com/office/powerpoint/2010/main" val="4484290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1400530"/>
          </a:xfrm>
        </p:spPr>
        <p:txBody>
          <a:bodyPr>
            <a:normAutofit/>
          </a:bodyPr>
          <a:lstStyle/>
          <a:p>
            <a:r>
              <a:rPr lang="en-US" b="1" dirty="0"/>
              <a:t>1.4 High-Level Use Cases (10%)</a:t>
            </a:r>
            <a:endParaRPr lang="en-US" dirty="0"/>
          </a:p>
        </p:txBody>
      </p:sp>
      <p:graphicFrame>
        <p:nvGraphicFramePr>
          <p:cNvPr id="5" name="Content Placeholder 2">
            <a:extLst>
              <a:ext uri="{FF2B5EF4-FFF2-40B4-BE49-F238E27FC236}">
                <a16:creationId xmlns:a16="http://schemas.microsoft.com/office/drawing/2014/main" id="{F3C5FE24-06EB-1A8A-5D7A-760FDC5B0B23}"/>
              </a:ext>
            </a:extLst>
          </p:cNvPr>
          <p:cNvGraphicFramePr>
            <a:graphicFrameLocks noGrp="1"/>
          </p:cNvGraphicFramePr>
          <p:nvPr>
            <p:ph idx="1"/>
            <p:extLst>
              <p:ext uri="{D42A27DB-BD31-4B8C-83A1-F6EECF244321}">
                <p14:modId xmlns:p14="http://schemas.microsoft.com/office/powerpoint/2010/main" val="1230653378"/>
              </p:ext>
            </p:extLst>
          </p:nvPr>
        </p:nvGraphicFramePr>
        <p:xfrm>
          <a:off x="646111" y="2140085"/>
          <a:ext cx="9404352" cy="40564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499398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7AEA421-5F29-4BA7-9360-2501B59879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11" name="Freeform 7">
            <a:extLst>
              <a:ext uri="{FF2B5EF4-FFF2-40B4-BE49-F238E27FC236}">
                <a16:creationId xmlns:a16="http://schemas.microsoft.com/office/drawing/2014/main" id="{9348F0CB-4904-4DEF-BDD4-ADEC2DCCCB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algn="ctr"/>
            <a:endParaRPr lang="en-US">
              <a:solidFill>
                <a:schemeClr val="tx1"/>
              </a:solidFill>
            </a:endParaRPr>
          </a:p>
        </p:txBody>
      </p:sp>
      <p:sp>
        <p:nvSpPr>
          <p:cNvPr id="2" name="Title 1"/>
          <p:cNvSpPr>
            <a:spLocks noGrp="1"/>
          </p:cNvSpPr>
          <p:nvPr>
            <p:ph type="title"/>
          </p:nvPr>
        </p:nvSpPr>
        <p:spPr>
          <a:xfrm>
            <a:off x="648930" y="629267"/>
            <a:ext cx="9252154" cy="1016654"/>
          </a:xfrm>
        </p:spPr>
        <p:txBody>
          <a:bodyPr>
            <a:normAutofit/>
          </a:bodyPr>
          <a:lstStyle/>
          <a:p>
            <a:r>
              <a:rPr lang="en-US" b="1">
                <a:solidFill>
                  <a:srgbClr val="EBEBEB"/>
                </a:solidFill>
              </a:rPr>
              <a:t>1.5 Risk List</a:t>
            </a:r>
            <a:endParaRPr lang="en-US">
              <a:solidFill>
                <a:srgbClr val="EBEBEB"/>
              </a:solidFill>
            </a:endParaRPr>
          </a:p>
        </p:txBody>
      </p:sp>
      <p:sp>
        <p:nvSpPr>
          <p:cNvPr id="13" name="Rectangle 12">
            <a:extLst>
              <a:ext uri="{FF2B5EF4-FFF2-40B4-BE49-F238E27FC236}">
                <a16:creationId xmlns:a16="http://schemas.microsoft.com/office/drawing/2014/main" id="{1583E1B8-79B3-49BB-8704-58E4AB1AF2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5" name="Freeform: Shape 14">
            <a:extLst>
              <a:ext uri="{FF2B5EF4-FFF2-40B4-BE49-F238E27FC236}">
                <a16:creationId xmlns:a16="http://schemas.microsoft.com/office/drawing/2014/main" id="{7BB34D5F-2B87-438E-8236-69C6068D47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8" cy="5095933"/>
          </a:xfrm>
          <a:custGeom>
            <a:avLst/>
            <a:gdLst>
              <a:gd name="connsiteX0" fmla="*/ 1 w 12192418"/>
              <a:gd name="connsiteY0" fmla="*/ 0 h 5095933"/>
              <a:gd name="connsiteX1" fmla="*/ 71932 w 12192418"/>
              <a:gd name="connsiteY1" fmla="*/ 12261 h 5095933"/>
              <a:gd name="connsiteX2" fmla="*/ 282849 w 12192418"/>
              <a:gd name="connsiteY2" fmla="*/ 48343 h 5095933"/>
              <a:gd name="connsiteX3" fmla="*/ 436464 w 12192418"/>
              <a:gd name="connsiteY3" fmla="*/ 73565 h 5095933"/>
              <a:gd name="connsiteX4" fmla="*/ 619339 w 12192418"/>
              <a:gd name="connsiteY4" fmla="*/ 100188 h 5095933"/>
              <a:gd name="connsiteX5" fmla="*/ 836351 w 12192418"/>
              <a:gd name="connsiteY5" fmla="*/ 132066 h 5095933"/>
              <a:gd name="connsiteX6" fmla="*/ 1076528 w 12192418"/>
              <a:gd name="connsiteY6" fmla="*/ 165696 h 5095933"/>
              <a:gd name="connsiteX7" fmla="*/ 1347184 w 12192418"/>
              <a:gd name="connsiteY7" fmla="*/ 201077 h 5095933"/>
              <a:gd name="connsiteX8" fmla="*/ 1642223 w 12192418"/>
              <a:gd name="connsiteY8" fmla="*/ 238560 h 5095933"/>
              <a:gd name="connsiteX9" fmla="*/ 1962864 w 12192418"/>
              <a:gd name="connsiteY9" fmla="*/ 276043 h 5095933"/>
              <a:gd name="connsiteX10" fmla="*/ 2304232 w 12192418"/>
              <a:gd name="connsiteY10" fmla="*/ 314227 h 5095933"/>
              <a:gd name="connsiteX11" fmla="*/ 2672421 w 12192418"/>
              <a:gd name="connsiteY11" fmla="*/ 349608 h 5095933"/>
              <a:gd name="connsiteX12" fmla="*/ 3057678 w 12192418"/>
              <a:gd name="connsiteY12" fmla="*/ 383588 h 5095933"/>
              <a:gd name="connsiteX13" fmla="*/ 3464881 w 12192418"/>
              <a:gd name="connsiteY13" fmla="*/ 414415 h 5095933"/>
              <a:gd name="connsiteX14" fmla="*/ 3889152 w 12192418"/>
              <a:gd name="connsiteY14" fmla="*/ 443841 h 5095933"/>
              <a:gd name="connsiteX15" fmla="*/ 4331710 w 12192418"/>
              <a:gd name="connsiteY15" fmla="*/ 471515 h 5095933"/>
              <a:gd name="connsiteX16" fmla="*/ 4558476 w 12192418"/>
              <a:gd name="connsiteY16" fmla="*/ 481324 h 5095933"/>
              <a:gd name="connsiteX17" fmla="*/ 4790118 w 12192418"/>
              <a:gd name="connsiteY17" fmla="*/ 492183 h 5095933"/>
              <a:gd name="connsiteX18" fmla="*/ 5025418 w 12192418"/>
              <a:gd name="connsiteY18" fmla="*/ 502342 h 5095933"/>
              <a:gd name="connsiteX19" fmla="*/ 5261937 w 12192418"/>
              <a:gd name="connsiteY19" fmla="*/ 508998 h 5095933"/>
              <a:gd name="connsiteX20" fmla="*/ 5503332 w 12192418"/>
              <a:gd name="connsiteY20" fmla="*/ 514953 h 5095933"/>
              <a:gd name="connsiteX21" fmla="*/ 5747167 w 12192418"/>
              <a:gd name="connsiteY21" fmla="*/ 521259 h 5095933"/>
              <a:gd name="connsiteX22" fmla="*/ 5995877 w 12192418"/>
              <a:gd name="connsiteY22" fmla="*/ 525463 h 5095933"/>
              <a:gd name="connsiteX23" fmla="*/ 6247026 w 12192418"/>
              <a:gd name="connsiteY23" fmla="*/ 525463 h 5095933"/>
              <a:gd name="connsiteX24" fmla="*/ 6500613 w 12192418"/>
              <a:gd name="connsiteY24" fmla="*/ 527565 h 5095933"/>
              <a:gd name="connsiteX25" fmla="*/ 6756639 w 12192418"/>
              <a:gd name="connsiteY25" fmla="*/ 525463 h 5095933"/>
              <a:gd name="connsiteX26" fmla="*/ 7016322 w 12192418"/>
              <a:gd name="connsiteY26" fmla="*/ 521259 h 5095933"/>
              <a:gd name="connsiteX27" fmla="*/ 7276005 w 12192418"/>
              <a:gd name="connsiteY27" fmla="*/ 517406 h 5095933"/>
              <a:gd name="connsiteX28" fmla="*/ 7539345 w 12192418"/>
              <a:gd name="connsiteY28" fmla="*/ 508998 h 5095933"/>
              <a:gd name="connsiteX29" fmla="*/ 7805124 w 12192418"/>
              <a:gd name="connsiteY29" fmla="*/ 500241 h 5095933"/>
              <a:gd name="connsiteX30" fmla="*/ 8070903 w 12192418"/>
              <a:gd name="connsiteY30" fmla="*/ 490082 h 5095933"/>
              <a:gd name="connsiteX31" fmla="*/ 8339121 w 12192418"/>
              <a:gd name="connsiteY31" fmla="*/ 475719 h 5095933"/>
              <a:gd name="connsiteX32" fmla="*/ 8609776 w 12192418"/>
              <a:gd name="connsiteY32" fmla="*/ 458554 h 5095933"/>
              <a:gd name="connsiteX33" fmla="*/ 8881651 w 12192418"/>
              <a:gd name="connsiteY33" fmla="*/ 442089 h 5095933"/>
              <a:gd name="connsiteX34" fmla="*/ 9153526 w 12192418"/>
              <a:gd name="connsiteY34" fmla="*/ 421071 h 5095933"/>
              <a:gd name="connsiteX35" fmla="*/ 9429058 w 12192418"/>
              <a:gd name="connsiteY35" fmla="*/ 395849 h 5095933"/>
              <a:gd name="connsiteX36" fmla="*/ 9700933 w 12192418"/>
              <a:gd name="connsiteY36" fmla="*/ 370626 h 5095933"/>
              <a:gd name="connsiteX37" fmla="*/ 9977684 w 12192418"/>
              <a:gd name="connsiteY37" fmla="*/ 341551 h 5095933"/>
              <a:gd name="connsiteX38" fmla="*/ 10255655 w 12192418"/>
              <a:gd name="connsiteY38" fmla="*/ 309673 h 5095933"/>
              <a:gd name="connsiteX39" fmla="*/ 10529968 w 12192418"/>
              <a:gd name="connsiteY39" fmla="*/ 276043 h 5095933"/>
              <a:gd name="connsiteX40" fmla="*/ 10807939 w 12192418"/>
              <a:gd name="connsiteY40" fmla="*/ 236809 h 5095933"/>
              <a:gd name="connsiteX41" fmla="*/ 11084690 w 12192418"/>
              <a:gd name="connsiteY41" fmla="*/ 194772 h 5095933"/>
              <a:gd name="connsiteX42" fmla="*/ 11362661 w 12192418"/>
              <a:gd name="connsiteY42" fmla="*/ 153085 h 5095933"/>
              <a:gd name="connsiteX43" fmla="*/ 11639412 w 12192418"/>
              <a:gd name="connsiteY43" fmla="*/ 104392 h 5095933"/>
              <a:gd name="connsiteX44" fmla="*/ 11914945 w 12192418"/>
              <a:gd name="connsiteY44" fmla="*/ 54648 h 5095933"/>
              <a:gd name="connsiteX45" fmla="*/ 12191696 w 12192418"/>
              <a:gd name="connsiteY45" fmla="*/ 2452 h 5095933"/>
              <a:gd name="connsiteX46" fmla="*/ 12191696 w 12192418"/>
              <a:gd name="connsiteY46" fmla="*/ 2109542 h 5095933"/>
              <a:gd name="connsiteX47" fmla="*/ 12191999 w 12192418"/>
              <a:gd name="connsiteY47" fmla="*/ 2109542 h 5095933"/>
              <a:gd name="connsiteX48" fmla="*/ 12191999 w 12192418"/>
              <a:gd name="connsiteY48" fmla="*/ 2802467 h 5095933"/>
              <a:gd name="connsiteX49" fmla="*/ 12192418 w 12192418"/>
              <a:gd name="connsiteY49" fmla="*/ 2802467 h 5095933"/>
              <a:gd name="connsiteX50" fmla="*/ 12192418 w 12192418"/>
              <a:gd name="connsiteY50" fmla="*/ 5095933 h 5095933"/>
              <a:gd name="connsiteX51" fmla="*/ 1 w 12192418"/>
              <a:gd name="connsiteY51" fmla="*/ 5095933 h 5095933"/>
              <a:gd name="connsiteX52" fmla="*/ 1 w 12192418"/>
              <a:gd name="connsiteY52" fmla="*/ 4074529 h 5095933"/>
              <a:gd name="connsiteX53" fmla="*/ 0 w 12192418"/>
              <a:gd name="connsiteY53" fmla="*/ 4074529 h 5095933"/>
              <a:gd name="connsiteX54" fmla="*/ 0 w 12192418"/>
              <a:gd name="connsiteY54" fmla="*/ 2109542 h 5095933"/>
              <a:gd name="connsiteX55" fmla="*/ 1 w 12192418"/>
              <a:gd name="connsiteY55" fmla="*/ 2109542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2192418" h="5095933">
                <a:moveTo>
                  <a:pt x="1" y="0"/>
                </a:moveTo>
                <a:lnTo>
                  <a:pt x="71932" y="12261"/>
                </a:lnTo>
                <a:lnTo>
                  <a:pt x="282849" y="48343"/>
                </a:lnTo>
                <a:lnTo>
                  <a:pt x="436464" y="73565"/>
                </a:lnTo>
                <a:lnTo>
                  <a:pt x="619339" y="100188"/>
                </a:lnTo>
                <a:lnTo>
                  <a:pt x="836351" y="132066"/>
                </a:lnTo>
                <a:lnTo>
                  <a:pt x="1076528" y="165696"/>
                </a:lnTo>
                <a:lnTo>
                  <a:pt x="1347184" y="201077"/>
                </a:lnTo>
                <a:lnTo>
                  <a:pt x="1642223" y="238560"/>
                </a:lnTo>
                <a:lnTo>
                  <a:pt x="1962864" y="276043"/>
                </a:lnTo>
                <a:lnTo>
                  <a:pt x="2304232" y="314227"/>
                </a:lnTo>
                <a:lnTo>
                  <a:pt x="2672421" y="349608"/>
                </a:lnTo>
                <a:lnTo>
                  <a:pt x="3057678" y="383588"/>
                </a:lnTo>
                <a:lnTo>
                  <a:pt x="3464881" y="414415"/>
                </a:lnTo>
                <a:lnTo>
                  <a:pt x="3889152" y="443841"/>
                </a:lnTo>
                <a:lnTo>
                  <a:pt x="4331710" y="471515"/>
                </a:lnTo>
                <a:lnTo>
                  <a:pt x="4558476" y="481324"/>
                </a:lnTo>
                <a:lnTo>
                  <a:pt x="4790118" y="492183"/>
                </a:lnTo>
                <a:lnTo>
                  <a:pt x="5025418" y="502342"/>
                </a:lnTo>
                <a:lnTo>
                  <a:pt x="5261937" y="508998"/>
                </a:lnTo>
                <a:lnTo>
                  <a:pt x="5503332" y="514953"/>
                </a:lnTo>
                <a:lnTo>
                  <a:pt x="5747167" y="521259"/>
                </a:lnTo>
                <a:lnTo>
                  <a:pt x="5995877" y="525463"/>
                </a:lnTo>
                <a:lnTo>
                  <a:pt x="6247026" y="525463"/>
                </a:lnTo>
                <a:lnTo>
                  <a:pt x="6500613" y="527565"/>
                </a:lnTo>
                <a:lnTo>
                  <a:pt x="6756639" y="525463"/>
                </a:lnTo>
                <a:lnTo>
                  <a:pt x="7016322" y="521259"/>
                </a:lnTo>
                <a:lnTo>
                  <a:pt x="7276005" y="517406"/>
                </a:lnTo>
                <a:lnTo>
                  <a:pt x="7539345" y="508998"/>
                </a:lnTo>
                <a:lnTo>
                  <a:pt x="7805124" y="500241"/>
                </a:lnTo>
                <a:lnTo>
                  <a:pt x="8070903" y="490082"/>
                </a:lnTo>
                <a:lnTo>
                  <a:pt x="8339121" y="475719"/>
                </a:lnTo>
                <a:lnTo>
                  <a:pt x="8609776" y="458554"/>
                </a:lnTo>
                <a:lnTo>
                  <a:pt x="8881651" y="442089"/>
                </a:lnTo>
                <a:lnTo>
                  <a:pt x="9153526" y="421071"/>
                </a:lnTo>
                <a:lnTo>
                  <a:pt x="9429058" y="395849"/>
                </a:lnTo>
                <a:lnTo>
                  <a:pt x="9700933" y="370626"/>
                </a:lnTo>
                <a:lnTo>
                  <a:pt x="9977684" y="341551"/>
                </a:lnTo>
                <a:lnTo>
                  <a:pt x="10255655" y="309673"/>
                </a:lnTo>
                <a:lnTo>
                  <a:pt x="10529968" y="276043"/>
                </a:lnTo>
                <a:lnTo>
                  <a:pt x="10807939" y="236809"/>
                </a:lnTo>
                <a:lnTo>
                  <a:pt x="11084690" y="194772"/>
                </a:lnTo>
                <a:lnTo>
                  <a:pt x="11362661" y="153085"/>
                </a:lnTo>
                <a:lnTo>
                  <a:pt x="11639412" y="104392"/>
                </a:lnTo>
                <a:lnTo>
                  <a:pt x="11914945" y="54648"/>
                </a:lnTo>
                <a:lnTo>
                  <a:pt x="12191696" y="2452"/>
                </a:lnTo>
                <a:lnTo>
                  <a:pt x="12191696" y="2109542"/>
                </a:lnTo>
                <a:lnTo>
                  <a:pt x="12191999" y="2109542"/>
                </a:lnTo>
                <a:lnTo>
                  <a:pt x="12191999" y="2802467"/>
                </a:lnTo>
                <a:lnTo>
                  <a:pt x="12192418" y="2802467"/>
                </a:lnTo>
                <a:lnTo>
                  <a:pt x="12192418" y="5095933"/>
                </a:lnTo>
                <a:lnTo>
                  <a:pt x="1" y="5095933"/>
                </a:lnTo>
                <a:lnTo>
                  <a:pt x="1" y="4074529"/>
                </a:lnTo>
                <a:lnTo>
                  <a:pt x="0" y="4074529"/>
                </a:lnTo>
                <a:lnTo>
                  <a:pt x="0" y="2109542"/>
                </a:lnTo>
                <a:lnTo>
                  <a:pt x="1" y="2109542"/>
                </a:lnTo>
                <a:close/>
              </a:path>
            </a:pathLst>
          </a:custGeom>
          <a:solidFill>
            <a:schemeClr val="bg1"/>
          </a:solidFill>
          <a:ln>
            <a:noFill/>
          </a:ln>
        </p:spPr>
        <p:txBody>
          <a:bodyPr/>
          <a:lstStyle/>
          <a:p>
            <a:endParaRPr lang="en-GB"/>
          </a:p>
        </p:txBody>
      </p:sp>
      <p:graphicFrame>
        <p:nvGraphicFramePr>
          <p:cNvPr id="6" name="Content Placeholder 5">
            <a:extLst>
              <a:ext uri="{FF2B5EF4-FFF2-40B4-BE49-F238E27FC236}">
                <a16:creationId xmlns:a16="http://schemas.microsoft.com/office/drawing/2014/main" id="{A1A0C3A1-A46D-404B-E80A-B4CE853D1B5D}"/>
              </a:ext>
            </a:extLst>
          </p:cNvPr>
          <p:cNvGraphicFramePr>
            <a:graphicFrameLocks noGrp="1"/>
          </p:cNvGraphicFramePr>
          <p:nvPr>
            <p:ph idx="1"/>
            <p:extLst>
              <p:ext uri="{D42A27DB-BD31-4B8C-83A1-F6EECF244321}">
                <p14:modId xmlns:p14="http://schemas.microsoft.com/office/powerpoint/2010/main" val="3995554879"/>
              </p:ext>
            </p:extLst>
          </p:nvPr>
        </p:nvGraphicFramePr>
        <p:xfrm>
          <a:off x="-1066800" y="1460230"/>
          <a:ext cx="13075920" cy="6656413"/>
        </p:xfrm>
        <a:graphic>
          <a:graphicData uri="http://schemas.openxmlformats.org/drawingml/2006/table">
            <a:tbl>
              <a:tblPr/>
              <a:tblGrid>
                <a:gridCol w="1634490">
                  <a:extLst>
                    <a:ext uri="{9D8B030D-6E8A-4147-A177-3AD203B41FA5}">
                      <a16:colId xmlns:a16="http://schemas.microsoft.com/office/drawing/2014/main" val="2863689916"/>
                    </a:ext>
                  </a:extLst>
                </a:gridCol>
                <a:gridCol w="1634490">
                  <a:extLst>
                    <a:ext uri="{9D8B030D-6E8A-4147-A177-3AD203B41FA5}">
                      <a16:colId xmlns:a16="http://schemas.microsoft.com/office/drawing/2014/main" val="844034225"/>
                    </a:ext>
                  </a:extLst>
                </a:gridCol>
                <a:gridCol w="1634490">
                  <a:extLst>
                    <a:ext uri="{9D8B030D-6E8A-4147-A177-3AD203B41FA5}">
                      <a16:colId xmlns:a16="http://schemas.microsoft.com/office/drawing/2014/main" val="3472647019"/>
                    </a:ext>
                  </a:extLst>
                </a:gridCol>
                <a:gridCol w="1634490">
                  <a:extLst>
                    <a:ext uri="{9D8B030D-6E8A-4147-A177-3AD203B41FA5}">
                      <a16:colId xmlns:a16="http://schemas.microsoft.com/office/drawing/2014/main" val="4067144713"/>
                    </a:ext>
                  </a:extLst>
                </a:gridCol>
                <a:gridCol w="1634490">
                  <a:extLst>
                    <a:ext uri="{9D8B030D-6E8A-4147-A177-3AD203B41FA5}">
                      <a16:colId xmlns:a16="http://schemas.microsoft.com/office/drawing/2014/main" val="3776880584"/>
                    </a:ext>
                  </a:extLst>
                </a:gridCol>
                <a:gridCol w="1634490">
                  <a:extLst>
                    <a:ext uri="{9D8B030D-6E8A-4147-A177-3AD203B41FA5}">
                      <a16:colId xmlns:a16="http://schemas.microsoft.com/office/drawing/2014/main" val="1363513353"/>
                    </a:ext>
                  </a:extLst>
                </a:gridCol>
                <a:gridCol w="1634490">
                  <a:extLst>
                    <a:ext uri="{9D8B030D-6E8A-4147-A177-3AD203B41FA5}">
                      <a16:colId xmlns:a16="http://schemas.microsoft.com/office/drawing/2014/main" val="1764278854"/>
                    </a:ext>
                  </a:extLst>
                </a:gridCol>
                <a:gridCol w="1634490">
                  <a:extLst>
                    <a:ext uri="{9D8B030D-6E8A-4147-A177-3AD203B41FA5}">
                      <a16:colId xmlns:a16="http://schemas.microsoft.com/office/drawing/2014/main" val="3262585592"/>
                    </a:ext>
                  </a:extLst>
                </a:gridCol>
              </a:tblGrid>
              <a:tr h="342018">
                <a:tc>
                  <a:txBody>
                    <a:bodyPr/>
                    <a:lstStyle/>
                    <a:p>
                      <a:pPr>
                        <a:buNone/>
                      </a:pPr>
                      <a:endParaRPr lang="en-US" sz="1100" dirty="0"/>
                    </a:p>
                  </a:txBody>
                  <a:tcPr marL="17555" marR="17555" marT="8778" marB="8778" anchor="ctr">
                    <a:lnL>
                      <a:noFill/>
                    </a:lnL>
                    <a:lnR>
                      <a:noFill/>
                    </a:lnR>
                    <a:lnT>
                      <a:noFill/>
                    </a:lnT>
                    <a:lnB>
                      <a:noFill/>
                    </a:lnB>
                    <a:noFill/>
                  </a:tcPr>
                </a:tc>
                <a:tc>
                  <a:txBody>
                    <a:bodyPr/>
                    <a:lstStyle/>
                    <a:p>
                      <a:pPr>
                        <a:buNone/>
                      </a:pPr>
                      <a:r>
                        <a:rPr lang="en-US" sz="1100" b="1" dirty="0"/>
                        <a:t>Risk Category</a:t>
                      </a:r>
                    </a:p>
                  </a:txBody>
                  <a:tcPr marL="17555" marR="17555" marT="8778" marB="8778" anchor="ctr">
                    <a:lnL>
                      <a:noFill/>
                    </a:lnL>
                    <a:lnR>
                      <a:noFill/>
                    </a:lnR>
                    <a:lnT>
                      <a:noFill/>
                    </a:lnT>
                    <a:lnB>
                      <a:noFill/>
                    </a:lnB>
                    <a:noFill/>
                  </a:tcPr>
                </a:tc>
                <a:tc>
                  <a:txBody>
                    <a:bodyPr/>
                    <a:lstStyle/>
                    <a:p>
                      <a:pPr>
                        <a:buNone/>
                      </a:pPr>
                      <a:r>
                        <a:rPr lang="en-US" sz="1100" b="1"/>
                        <a:t>Risk Description</a:t>
                      </a:r>
                    </a:p>
                  </a:txBody>
                  <a:tcPr marL="17555" marR="17555" marT="8778" marB="8778" anchor="ctr">
                    <a:lnL>
                      <a:noFill/>
                    </a:lnL>
                    <a:lnR>
                      <a:noFill/>
                    </a:lnR>
                    <a:lnT>
                      <a:noFill/>
                    </a:lnT>
                    <a:lnB>
                      <a:noFill/>
                    </a:lnB>
                    <a:noFill/>
                  </a:tcPr>
                </a:tc>
                <a:tc>
                  <a:txBody>
                    <a:bodyPr/>
                    <a:lstStyle/>
                    <a:p>
                      <a:pPr>
                        <a:buNone/>
                      </a:pPr>
                      <a:r>
                        <a:rPr lang="en-US" sz="1100" b="1"/>
                        <a:t>Business Impact</a:t>
                      </a:r>
                    </a:p>
                  </a:txBody>
                  <a:tcPr marL="17555" marR="17555" marT="8778" marB="8778" anchor="ctr">
                    <a:lnL>
                      <a:noFill/>
                    </a:lnL>
                    <a:lnR>
                      <a:noFill/>
                    </a:lnR>
                    <a:lnT>
                      <a:noFill/>
                    </a:lnT>
                    <a:lnB>
                      <a:noFill/>
                    </a:lnB>
                    <a:noFill/>
                  </a:tcPr>
                </a:tc>
                <a:tc>
                  <a:txBody>
                    <a:bodyPr/>
                    <a:lstStyle/>
                    <a:p>
                      <a:pPr>
                        <a:buNone/>
                      </a:pPr>
                      <a:r>
                        <a:rPr lang="en-US" sz="1100" b="1" dirty="0"/>
                        <a:t>Probability</a:t>
                      </a:r>
                    </a:p>
                  </a:txBody>
                  <a:tcPr marL="17555" marR="17555" marT="8778" marB="8778" anchor="ctr">
                    <a:lnL>
                      <a:noFill/>
                    </a:lnL>
                    <a:lnR>
                      <a:noFill/>
                    </a:lnR>
                    <a:lnT>
                      <a:noFill/>
                    </a:lnT>
                    <a:lnB>
                      <a:noFill/>
                    </a:lnB>
                    <a:noFill/>
                  </a:tcPr>
                </a:tc>
                <a:tc>
                  <a:txBody>
                    <a:bodyPr/>
                    <a:lstStyle/>
                    <a:p>
                      <a:pPr>
                        <a:buNone/>
                      </a:pPr>
                      <a:r>
                        <a:rPr lang="en-US" sz="1100" b="1" dirty="0"/>
                        <a:t>Impact Level</a:t>
                      </a:r>
                    </a:p>
                  </a:txBody>
                  <a:tcPr marL="17555" marR="17555" marT="8778" marB="8778" anchor="ctr">
                    <a:lnL>
                      <a:noFill/>
                    </a:lnL>
                    <a:lnR>
                      <a:noFill/>
                    </a:lnR>
                    <a:lnT>
                      <a:noFill/>
                    </a:lnT>
                    <a:lnB>
                      <a:noFill/>
                    </a:lnB>
                    <a:noFill/>
                  </a:tcPr>
                </a:tc>
                <a:tc>
                  <a:txBody>
                    <a:bodyPr/>
                    <a:lstStyle/>
                    <a:p>
                      <a:pPr>
                        <a:buNone/>
                      </a:pPr>
                      <a:r>
                        <a:rPr lang="en-US" sz="1100" b="1" dirty="0"/>
                        <a:t>Priority</a:t>
                      </a:r>
                    </a:p>
                  </a:txBody>
                  <a:tcPr marL="17555" marR="17555" marT="8778" marB="8778" anchor="ctr">
                    <a:lnL>
                      <a:noFill/>
                    </a:lnL>
                    <a:lnR>
                      <a:noFill/>
                    </a:lnR>
                    <a:lnT>
                      <a:noFill/>
                    </a:lnT>
                    <a:lnB>
                      <a:noFill/>
                    </a:lnB>
                    <a:noFill/>
                  </a:tcPr>
                </a:tc>
                <a:tc>
                  <a:txBody>
                    <a:bodyPr/>
                    <a:lstStyle/>
                    <a:p>
                      <a:pPr>
                        <a:buNone/>
                      </a:pPr>
                      <a:r>
                        <a:rPr lang="en-US" sz="1100" b="1" dirty="0"/>
                        <a:t>Mitigation Strategy</a:t>
                      </a:r>
                    </a:p>
                  </a:txBody>
                  <a:tcPr marL="17555" marR="17555" marT="8778" marB="8778" anchor="ctr">
                    <a:lnL>
                      <a:noFill/>
                    </a:lnL>
                    <a:lnR>
                      <a:noFill/>
                    </a:lnR>
                    <a:lnT>
                      <a:noFill/>
                    </a:lnT>
                    <a:lnB>
                      <a:noFill/>
                    </a:lnB>
                    <a:noFill/>
                  </a:tcPr>
                </a:tc>
                <a:extLst>
                  <a:ext uri="{0D108BD9-81ED-4DB2-BD59-A6C34878D82A}">
                    <a16:rowId xmlns:a16="http://schemas.microsoft.com/office/drawing/2014/main" val="827241147"/>
                  </a:ext>
                </a:extLst>
              </a:tr>
              <a:tr h="667018">
                <a:tc>
                  <a:txBody>
                    <a:bodyPr/>
                    <a:lstStyle/>
                    <a:p>
                      <a:pPr>
                        <a:buNone/>
                      </a:pPr>
                      <a:endParaRPr lang="en-US" sz="1100"/>
                    </a:p>
                  </a:txBody>
                  <a:tcPr marL="17555" marR="17555" marT="8778" marB="8778" anchor="ctr">
                    <a:lnL>
                      <a:noFill/>
                    </a:lnL>
                    <a:lnR>
                      <a:noFill/>
                    </a:lnR>
                    <a:lnT>
                      <a:noFill/>
                    </a:lnT>
                    <a:lnB>
                      <a:noFill/>
                    </a:lnB>
                    <a:noFill/>
                  </a:tcPr>
                </a:tc>
                <a:tc>
                  <a:txBody>
                    <a:bodyPr/>
                    <a:lstStyle/>
                    <a:p>
                      <a:pPr>
                        <a:buNone/>
                      </a:pPr>
                      <a:r>
                        <a:rPr lang="en-US" sz="1100" dirty="0"/>
                        <a:t>Financial</a:t>
                      </a:r>
                    </a:p>
                  </a:txBody>
                  <a:tcPr marL="17555" marR="17555" marT="8778" marB="8778" anchor="ctr">
                    <a:lnL>
                      <a:noFill/>
                    </a:lnL>
                    <a:lnR>
                      <a:noFill/>
                    </a:lnR>
                    <a:lnT>
                      <a:noFill/>
                    </a:lnT>
                    <a:lnB>
                      <a:noFill/>
                    </a:lnB>
                    <a:noFill/>
                  </a:tcPr>
                </a:tc>
                <a:tc>
                  <a:txBody>
                    <a:bodyPr/>
                    <a:lstStyle/>
                    <a:p>
                      <a:pPr>
                        <a:buNone/>
                      </a:pPr>
                      <a:r>
                        <a:rPr lang="en-US" sz="1100" dirty="0"/>
                        <a:t>Development cost exceeds planned budget</a:t>
                      </a:r>
                    </a:p>
                  </a:txBody>
                  <a:tcPr marL="17555" marR="17555" marT="8778" marB="8778" anchor="ctr">
                    <a:lnL>
                      <a:noFill/>
                    </a:lnL>
                    <a:lnR>
                      <a:noFill/>
                    </a:lnR>
                    <a:lnT>
                      <a:noFill/>
                    </a:lnT>
                    <a:lnB>
                      <a:noFill/>
                    </a:lnB>
                    <a:noFill/>
                  </a:tcPr>
                </a:tc>
                <a:tc>
                  <a:txBody>
                    <a:bodyPr/>
                    <a:lstStyle/>
                    <a:p>
                      <a:pPr>
                        <a:buNone/>
                      </a:pPr>
                      <a:r>
                        <a:rPr lang="en-US" sz="1100" dirty="0"/>
                        <a:t>Reduced return on investment (ROI)</a:t>
                      </a:r>
                    </a:p>
                  </a:txBody>
                  <a:tcPr marL="17555" marR="17555" marT="8778" marB="8778" anchor="ctr">
                    <a:lnL>
                      <a:noFill/>
                    </a:lnL>
                    <a:lnR>
                      <a:noFill/>
                    </a:lnR>
                    <a:lnT>
                      <a:noFill/>
                    </a:lnT>
                    <a:lnB>
                      <a:noFill/>
                    </a:lnB>
                    <a:noFill/>
                  </a:tcPr>
                </a:tc>
                <a:tc>
                  <a:txBody>
                    <a:bodyPr/>
                    <a:lstStyle/>
                    <a:p>
                      <a:pPr>
                        <a:buNone/>
                      </a:pPr>
                      <a:r>
                        <a:rPr lang="en-US" sz="1100"/>
                        <a:t>Medium</a:t>
                      </a:r>
                    </a:p>
                  </a:txBody>
                  <a:tcPr marL="17555" marR="17555" marT="8778" marB="8778" anchor="ctr">
                    <a:lnL>
                      <a:noFill/>
                    </a:lnL>
                    <a:lnR>
                      <a:noFill/>
                    </a:lnR>
                    <a:lnT>
                      <a:noFill/>
                    </a:lnT>
                    <a:lnB>
                      <a:noFill/>
                    </a:lnB>
                    <a:noFill/>
                  </a:tcPr>
                </a:tc>
                <a:tc>
                  <a:txBody>
                    <a:bodyPr/>
                    <a:lstStyle/>
                    <a:p>
                      <a:pPr>
                        <a:buNone/>
                      </a:pPr>
                      <a:r>
                        <a:rPr lang="en-US" sz="1100"/>
                        <a:t>Medium</a:t>
                      </a:r>
                    </a:p>
                  </a:txBody>
                  <a:tcPr marL="17555" marR="17555" marT="8778" marB="8778" anchor="ctr">
                    <a:lnL>
                      <a:noFill/>
                    </a:lnL>
                    <a:lnR>
                      <a:noFill/>
                    </a:lnR>
                    <a:lnT>
                      <a:noFill/>
                    </a:lnT>
                    <a:lnB>
                      <a:noFill/>
                    </a:lnB>
                    <a:noFill/>
                  </a:tcPr>
                </a:tc>
                <a:tc>
                  <a:txBody>
                    <a:bodyPr/>
                    <a:lstStyle/>
                    <a:p>
                      <a:pPr>
                        <a:buNone/>
                      </a:pPr>
                      <a:r>
                        <a:rPr lang="en-US" sz="1100"/>
                        <a:t>Medium</a:t>
                      </a:r>
                    </a:p>
                  </a:txBody>
                  <a:tcPr marL="17555" marR="17555" marT="8778" marB="8778" anchor="ctr">
                    <a:lnL>
                      <a:noFill/>
                    </a:lnL>
                    <a:lnR>
                      <a:noFill/>
                    </a:lnR>
                    <a:lnT>
                      <a:noFill/>
                    </a:lnT>
                    <a:lnB>
                      <a:noFill/>
                    </a:lnB>
                    <a:noFill/>
                  </a:tcPr>
                </a:tc>
                <a:tc>
                  <a:txBody>
                    <a:bodyPr/>
                    <a:lstStyle/>
                    <a:p>
                      <a:pPr>
                        <a:buNone/>
                      </a:pPr>
                      <a:r>
                        <a:rPr lang="en-US" sz="1100"/>
                        <a:t>Clearly define scope and control feature expansion</a:t>
                      </a:r>
                    </a:p>
                  </a:txBody>
                  <a:tcPr marL="17555" marR="17555" marT="8778" marB="8778" anchor="ctr">
                    <a:lnL>
                      <a:noFill/>
                    </a:lnL>
                    <a:lnR>
                      <a:noFill/>
                    </a:lnR>
                    <a:lnT>
                      <a:noFill/>
                    </a:lnT>
                    <a:lnB>
                      <a:noFill/>
                    </a:lnB>
                    <a:noFill/>
                  </a:tcPr>
                </a:tc>
                <a:extLst>
                  <a:ext uri="{0D108BD9-81ED-4DB2-BD59-A6C34878D82A}">
                    <a16:rowId xmlns:a16="http://schemas.microsoft.com/office/drawing/2014/main" val="626088026"/>
                  </a:ext>
                </a:extLst>
              </a:tr>
              <a:tr h="667018">
                <a:tc>
                  <a:txBody>
                    <a:bodyPr/>
                    <a:lstStyle/>
                    <a:p>
                      <a:pPr>
                        <a:buNone/>
                      </a:pPr>
                      <a:endParaRPr lang="en-US" sz="1100"/>
                    </a:p>
                  </a:txBody>
                  <a:tcPr marL="17555" marR="17555" marT="8778" marB="8778" anchor="ctr">
                    <a:lnL>
                      <a:noFill/>
                    </a:lnL>
                    <a:lnR>
                      <a:noFill/>
                    </a:lnR>
                    <a:lnT>
                      <a:noFill/>
                    </a:lnT>
                    <a:lnB>
                      <a:noFill/>
                    </a:lnB>
                    <a:noFill/>
                  </a:tcPr>
                </a:tc>
                <a:tc>
                  <a:txBody>
                    <a:bodyPr/>
                    <a:lstStyle/>
                    <a:p>
                      <a:pPr>
                        <a:buNone/>
                      </a:pPr>
                      <a:r>
                        <a:rPr lang="en-US" sz="1100"/>
                        <a:t>Financial</a:t>
                      </a:r>
                    </a:p>
                  </a:txBody>
                  <a:tcPr marL="17555" marR="17555" marT="8778" marB="8778" anchor="ctr">
                    <a:lnL>
                      <a:noFill/>
                    </a:lnL>
                    <a:lnR>
                      <a:noFill/>
                    </a:lnR>
                    <a:lnT>
                      <a:noFill/>
                    </a:lnT>
                    <a:lnB>
                      <a:noFill/>
                    </a:lnB>
                    <a:noFill/>
                  </a:tcPr>
                </a:tc>
                <a:tc>
                  <a:txBody>
                    <a:bodyPr/>
                    <a:lstStyle/>
                    <a:p>
                      <a:pPr>
                        <a:buNone/>
                      </a:pPr>
                      <a:r>
                        <a:rPr lang="en-US" sz="1100"/>
                        <a:t>System does not improve profitability as expected</a:t>
                      </a:r>
                    </a:p>
                  </a:txBody>
                  <a:tcPr marL="17555" marR="17555" marT="8778" marB="8778" anchor="ctr">
                    <a:lnL>
                      <a:noFill/>
                    </a:lnL>
                    <a:lnR>
                      <a:noFill/>
                    </a:lnR>
                    <a:lnT>
                      <a:noFill/>
                    </a:lnT>
                    <a:lnB>
                      <a:noFill/>
                    </a:lnB>
                    <a:noFill/>
                  </a:tcPr>
                </a:tc>
                <a:tc>
                  <a:txBody>
                    <a:bodyPr/>
                    <a:lstStyle/>
                    <a:p>
                      <a:pPr>
                        <a:buNone/>
                      </a:pPr>
                      <a:r>
                        <a:rPr lang="en-US" sz="1100"/>
                        <a:t>Business may abandon system</a:t>
                      </a:r>
                    </a:p>
                  </a:txBody>
                  <a:tcPr marL="17555" marR="17555" marT="8778" marB="8778" anchor="ctr">
                    <a:lnL>
                      <a:noFill/>
                    </a:lnL>
                    <a:lnR>
                      <a:noFill/>
                    </a:lnR>
                    <a:lnT>
                      <a:noFill/>
                    </a:lnT>
                    <a:lnB>
                      <a:noFill/>
                    </a:lnB>
                    <a:noFill/>
                  </a:tcPr>
                </a:tc>
                <a:tc>
                  <a:txBody>
                    <a:bodyPr/>
                    <a:lstStyle/>
                    <a:p>
                      <a:pPr>
                        <a:buNone/>
                      </a:pPr>
                      <a:r>
                        <a:rPr lang="en-US" sz="1100"/>
                        <a:t>Medium</a:t>
                      </a:r>
                    </a:p>
                  </a:txBody>
                  <a:tcPr marL="17555" marR="17555" marT="8778" marB="8778" anchor="ctr">
                    <a:lnL>
                      <a:noFill/>
                    </a:lnL>
                    <a:lnR>
                      <a:noFill/>
                    </a:lnR>
                    <a:lnT>
                      <a:noFill/>
                    </a:lnT>
                    <a:lnB>
                      <a:noFill/>
                    </a:lnB>
                    <a:noFill/>
                  </a:tcPr>
                </a:tc>
                <a:tc>
                  <a:txBody>
                    <a:bodyPr/>
                    <a:lstStyle/>
                    <a:p>
                      <a:pPr>
                        <a:buNone/>
                      </a:pPr>
                      <a:r>
                        <a:rPr lang="en-US" sz="1100"/>
                        <a:t>High</a:t>
                      </a:r>
                    </a:p>
                  </a:txBody>
                  <a:tcPr marL="17555" marR="17555" marT="8778" marB="8778" anchor="ctr">
                    <a:lnL>
                      <a:noFill/>
                    </a:lnL>
                    <a:lnR>
                      <a:noFill/>
                    </a:lnR>
                    <a:lnT>
                      <a:noFill/>
                    </a:lnT>
                    <a:lnB>
                      <a:noFill/>
                    </a:lnB>
                    <a:noFill/>
                  </a:tcPr>
                </a:tc>
                <a:tc>
                  <a:txBody>
                    <a:bodyPr/>
                    <a:lstStyle/>
                    <a:p>
                      <a:pPr>
                        <a:buNone/>
                      </a:pPr>
                      <a:r>
                        <a:rPr lang="en-US" sz="1100"/>
                        <a:t>High</a:t>
                      </a:r>
                    </a:p>
                  </a:txBody>
                  <a:tcPr marL="17555" marR="17555" marT="8778" marB="8778" anchor="ctr">
                    <a:lnL>
                      <a:noFill/>
                    </a:lnL>
                    <a:lnR>
                      <a:noFill/>
                    </a:lnR>
                    <a:lnT>
                      <a:noFill/>
                    </a:lnT>
                    <a:lnB>
                      <a:noFill/>
                    </a:lnB>
                    <a:noFill/>
                  </a:tcPr>
                </a:tc>
                <a:tc>
                  <a:txBody>
                    <a:bodyPr/>
                    <a:lstStyle/>
                    <a:p>
                      <a:pPr>
                        <a:buNone/>
                      </a:pPr>
                      <a:r>
                        <a:rPr lang="en-US" sz="1100"/>
                        <a:t>Focus on core revenue-generating features</a:t>
                      </a:r>
                    </a:p>
                  </a:txBody>
                  <a:tcPr marL="17555" marR="17555" marT="8778" marB="8778" anchor="ctr">
                    <a:lnL>
                      <a:noFill/>
                    </a:lnL>
                    <a:lnR>
                      <a:noFill/>
                    </a:lnR>
                    <a:lnT>
                      <a:noFill/>
                    </a:lnT>
                    <a:lnB>
                      <a:noFill/>
                    </a:lnB>
                    <a:noFill/>
                  </a:tcPr>
                </a:tc>
                <a:extLst>
                  <a:ext uri="{0D108BD9-81ED-4DB2-BD59-A6C34878D82A}">
                    <a16:rowId xmlns:a16="http://schemas.microsoft.com/office/drawing/2014/main" val="2796301800"/>
                  </a:ext>
                </a:extLst>
              </a:tr>
              <a:tr h="739889">
                <a:tc>
                  <a:txBody>
                    <a:bodyPr/>
                    <a:lstStyle/>
                    <a:p>
                      <a:pPr>
                        <a:buNone/>
                      </a:pPr>
                      <a:endParaRPr lang="en-US" sz="1100"/>
                    </a:p>
                  </a:txBody>
                  <a:tcPr marL="17555" marR="17555" marT="8778" marB="8778" anchor="ctr">
                    <a:lnL>
                      <a:noFill/>
                    </a:lnL>
                    <a:lnR>
                      <a:noFill/>
                    </a:lnR>
                    <a:lnT>
                      <a:noFill/>
                    </a:lnT>
                    <a:lnB>
                      <a:noFill/>
                    </a:lnB>
                    <a:noFill/>
                  </a:tcPr>
                </a:tc>
                <a:tc>
                  <a:txBody>
                    <a:bodyPr/>
                    <a:lstStyle/>
                    <a:p>
                      <a:pPr>
                        <a:buNone/>
                      </a:pPr>
                      <a:r>
                        <a:rPr lang="en-US" sz="1100"/>
                        <a:t>Operational</a:t>
                      </a:r>
                    </a:p>
                  </a:txBody>
                  <a:tcPr marL="17555" marR="17555" marT="8778" marB="8778" anchor="ctr">
                    <a:lnL>
                      <a:noFill/>
                    </a:lnL>
                    <a:lnR>
                      <a:noFill/>
                    </a:lnR>
                    <a:lnT>
                      <a:noFill/>
                    </a:lnT>
                    <a:lnB>
                      <a:noFill/>
                    </a:lnB>
                    <a:noFill/>
                  </a:tcPr>
                </a:tc>
                <a:tc>
                  <a:txBody>
                    <a:bodyPr/>
                    <a:lstStyle/>
                    <a:p>
                      <a:pPr>
                        <a:buNone/>
                      </a:pPr>
                      <a:r>
                        <a:rPr lang="en-US" sz="1100"/>
                        <a:t>Staff resist using the new system</a:t>
                      </a:r>
                    </a:p>
                  </a:txBody>
                  <a:tcPr marL="17555" marR="17555" marT="8778" marB="8778" anchor="ctr">
                    <a:lnL>
                      <a:noFill/>
                    </a:lnL>
                    <a:lnR>
                      <a:noFill/>
                    </a:lnR>
                    <a:lnT>
                      <a:noFill/>
                    </a:lnT>
                    <a:lnB>
                      <a:noFill/>
                    </a:lnB>
                    <a:noFill/>
                  </a:tcPr>
                </a:tc>
                <a:tc>
                  <a:txBody>
                    <a:bodyPr/>
                    <a:lstStyle/>
                    <a:p>
                      <a:pPr>
                        <a:buNone/>
                      </a:pPr>
                      <a:r>
                        <a:rPr lang="en-US" sz="1100"/>
                        <a:t>Low system adoption, inefficiency continues</a:t>
                      </a:r>
                    </a:p>
                  </a:txBody>
                  <a:tcPr marL="17555" marR="17555" marT="8778" marB="8778" anchor="ctr">
                    <a:lnL>
                      <a:noFill/>
                    </a:lnL>
                    <a:lnR>
                      <a:noFill/>
                    </a:lnR>
                    <a:lnT>
                      <a:noFill/>
                    </a:lnT>
                    <a:lnB>
                      <a:noFill/>
                    </a:lnB>
                    <a:noFill/>
                  </a:tcPr>
                </a:tc>
                <a:tc>
                  <a:txBody>
                    <a:bodyPr/>
                    <a:lstStyle/>
                    <a:p>
                      <a:pPr>
                        <a:buNone/>
                      </a:pPr>
                      <a:r>
                        <a:rPr lang="en-US" sz="1100"/>
                        <a:t>High</a:t>
                      </a:r>
                    </a:p>
                  </a:txBody>
                  <a:tcPr marL="17555" marR="17555" marT="8778" marB="8778" anchor="ctr">
                    <a:lnL>
                      <a:noFill/>
                    </a:lnL>
                    <a:lnR>
                      <a:noFill/>
                    </a:lnR>
                    <a:lnT>
                      <a:noFill/>
                    </a:lnT>
                    <a:lnB>
                      <a:noFill/>
                    </a:lnB>
                    <a:noFill/>
                  </a:tcPr>
                </a:tc>
                <a:tc>
                  <a:txBody>
                    <a:bodyPr/>
                    <a:lstStyle/>
                    <a:p>
                      <a:pPr>
                        <a:buNone/>
                      </a:pPr>
                      <a:r>
                        <a:rPr lang="en-US" sz="1100"/>
                        <a:t>Medium</a:t>
                      </a:r>
                    </a:p>
                  </a:txBody>
                  <a:tcPr marL="17555" marR="17555" marT="8778" marB="8778" anchor="ctr">
                    <a:lnL>
                      <a:noFill/>
                    </a:lnL>
                    <a:lnR>
                      <a:noFill/>
                    </a:lnR>
                    <a:lnT>
                      <a:noFill/>
                    </a:lnT>
                    <a:lnB>
                      <a:noFill/>
                    </a:lnB>
                    <a:noFill/>
                  </a:tcPr>
                </a:tc>
                <a:tc>
                  <a:txBody>
                    <a:bodyPr/>
                    <a:lstStyle/>
                    <a:p>
                      <a:pPr>
                        <a:buNone/>
                      </a:pPr>
                      <a:r>
                        <a:rPr lang="en-US" sz="1100"/>
                        <a:t>High</a:t>
                      </a:r>
                    </a:p>
                  </a:txBody>
                  <a:tcPr marL="17555" marR="17555" marT="8778" marB="8778" anchor="ctr">
                    <a:lnL>
                      <a:noFill/>
                    </a:lnL>
                    <a:lnR>
                      <a:noFill/>
                    </a:lnR>
                    <a:lnT>
                      <a:noFill/>
                    </a:lnT>
                    <a:lnB>
                      <a:noFill/>
                    </a:lnB>
                    <a:noFill/>
                  </a:tcPr>
                </a:tc>
                <a:tc>
                  <a:txBody>
                    <a:bodyPr/>
                    <a:lstStyle/>
                    <a:p>
                      <a:pPr>
                        <a:buNone/>
                      </a:pPr>
                      <a:r>
                        <a:rPr lang="en-US" sz="1100"/>
                        <a:t>Provide training and user-friendly interface</a:t>
                      </a:r>
                    </a:p>
                  </a:txBody>
                  <a:tcPr marL="17555" marR="17555" marT="8778" marB="8778" anchor="ctr">
                    <a:lnL>
                      <a:noFill/>
                    </a:lnL>
                    <a:lnR>
                      <a:noFill/>
                    </a:lnR>
                    <a:lnT>
                      <a:noFill/>
                    </a:lnT>
                    <a:lnB>
                      <a:noFill/>
                    </a:lnB>
                    <a:noFill/>
                  </a:tcPr>
                </a:tc>
                <a:extLst>
                  <a:ext uri="{0D108BD9-81ED-4DB2-BD59-A6C34878D82A}">
                    <a16:rowId xmlns:a16="http://schemas.microsoft.com/office/drawing/2014/main" val="1297140600"/>
                  </a:ext>
                </a:extLst>
              </a:tr>
              <a:tr h="667018">
                <a:tc>
                  <a:txBody>
                    <a:bodyPr/>
                    <a:lstStyle/>
                    <a:p>
                      <a:pPr>
                        <a:buNone/>
                      </a:pPr>
                      <a:endParaRPr lang="en-US" sz="1100"/>
                    </a:p>
                  </a:txBody>
                  <a:tcPr marL="17555" marR="17555" marT="8778" marB="8778" anchor="ctr">
                    <a:lnL>
                      <a:noFill/>
                    </a:lnL>
                    <a:lnR>
                      <a:noFill/>
                    </a:lnR>
                    <a:lnT>
                      <a:noFill/>
                    </a:lnT>
                    <a:lnB>
                      <a:noFill/>
                    </a:lnB>
                    <a:noFill/>
                  </a:tcPr>
                </a:tc>
                <a:tc>
                  <a:txBody>
                    <a:bodyPr/>
                    <a:lstStyle/>
                    <a:p>
                      <a:pPr>
                        <a:buNone/>
                      </a:pPr>
                      <a:r>
                        <a:rPr lang="en-US" sz="1100"/>
                        <a:t>Operational</a:t>
                      </a:r>
                    </a:p>
                  </a:txBody>
                  <a:tcPr marL="17555" marR="17555" marT="8778" marB="8778" anchor="ctr">
                    <a:lnL>
                      <a:noFill/>
                    </a:lnL>
                    <a:lnR>
                      <a:noFill/>
                    </a:lnR>
                    <a:lnT>
                      <a:noFill/>
                    </a:lnT>
                    <a:lnB>
                      <a:noFill/>
                    </a:lnB>
                    <a:noFill/>
                  </a:tcPr>
                </a:tc>
                <a:tc>
                  <a:txBody>
                    <a:bodyPr/>
                    <a:lstStyle/>
                    <a:p>
                      <a:pPr>
                        <a:buNone/>
                      </a:pPr>
                      <a:r>
                        <a:rPr lang="en-US" sz="1100"/>
                        <a:t>System downtime during peak sales hours</a:t>
                      </a:r>
                    </a:p>
                  </a:txBody>
                  <a:tcPr marL="17555" marR="17555" marT="8778" marB="8778" anchor="ctr">
                    <a:lnL>
                      <a:noFill/>
                    </a:lnL>
                    <a:lnR>
                      <a:noFill/>
                    </a:lnR>
                    <a:lnT>
                      <a:noFill/>
                    </a:lnT>
                    <a:lnB>
                      <a:noFill/>
                    </a:lnB>
                    <a:noFill/>
                  </a:tcPr>
                </a:tc>
                <a:tc>
                  <a:txBody>
                    <a:bodyPr/>
                    <a:lstStyle/>
                    <a:p>
                      <a:pPr>
                        <a:buNone/>
                      </a:pPr>
                      <a:r>
                        <a:rPr lang="en-US" sz="1100"/>
                        <a:t>Loss of sales and customer dissatisfaction</a:t>
                      </a:r>
                    </a:p>
                  </a:txBody>
                  <a:tcPr marL="17555" marR="17555" marT="8778" marB="8778" anchor="ctr">
                    <a:lnL>
                      <a:noFill/>
                    </a:lnL>
                    <a:lnR>
                      <a:noFill/>
                    </a:lnR>
                    <a:lnT>
                      <a:noFill/>
                    </a:lnT>
                    <a:lnB>
                      <a:noFill/>
                    </a:lnB>
                    <a:noFill/>
                  </a:tcPr>
                </a:tc>
                <a:tc>
                  <a:txBody>
                    <a:bodyPr/>
                    <a:lstStyle/>
                    <a:p>
                      <a:pPr>
                        <a:buNone/>
                      </a:pPr>
                      <a:r>
                        <a:rPr lang="en-US" sz="1100"/>
                        <a:t>Medium</a:t>
                      </a:r>
                    </a:p>
                  </a:txBody>
                  <a:tcPr marL="17555" marR="17555" marT="8778" marB="8778" anchor="ctr">
                    <a:lnL>
                      <a:noFill/>
                    </a:lnL>
                    <a:lnR>
                      <a:noFill/>
                    </a:lnR>
                    <a:lnT>
                      <a:noFill/>
                    </a:lnT>
                    <a:lnB>
                      <a:noFill/>
                    </a:lnB>
                    <a:noFill/>
                  </a:tcPr>
                </a:tc>
                <a:tc>
                  <a:txBody>
                    <a:bodyPr/>
                    <a:lstStyle/>
                    <a:p>
                      <a:pPr>
                        <a:buNone/>
                      </a:pPr>
                      <a:r>
                        <a:rPr lang="en-US" sz="1100"/>
                        <a:t>High</a:t>
                      </a:r>
                    </a:p>
                  </a:txBody>
                  <a:tcPr marL="17555" marR="17555" marT="8778" marB="8778" anchor="ctr">
                    <a:lnL>
                      <a:noFill/>
                    </a:lnL>
                    <a:lnR>
                      <a:noFill/>
                    </a:lnR>
                    <a:lnT>
                      <a:noFill/>
                    </a:lnT>
                    <a:lnB>
                      <a:noFill/>
                    </a:lnB>
                    <a:noFill/>
                  </a:tcPr>
                </a:tc>
                <a:tc>
                  <a:txBody>
                    <a:bodyPr/>
                    <a:lstStyle/>
                    <a:p>
                      <a:pPr>
                        <a:buNone/>
                      </a:pPr>
                      <a:r>
                        <a:rPr lang="en-US" sz="1100"/>
                        <a:t>High</a:t>
                      </a:r>
                    </a:p>
                  </a:txBody>
                  <a:tcPr marL="17555" marR="17555" marT="8778" marB="8778" anchor="ctr">
                    <a:lnL>
                      <a:noFill/>
                    </a:lnL>
                    <a:lnR>
                      <a:noFill/>
                    </a:lnR>
                    <a:lnT>
                      <a:noFill/>
                    </a:lnT>
                    <a:lnB>
                      <a:noFill/>
                    </a:lnB>
                    <a:noFill/>
                  </a:tcPr>
                </a:tc>
                <a:tc>
                  <a:txBody>
                    <a:bodyPr/>
                    <a:lstStyle/>
                    <a:p>
                      <a:pPr>
                        <a:buNone/>
                      </a:pPr>
                      <a:r>
                        <a:rPr lang="en-US" sz="1100"/>
                        <a:t>Implement backup and recovery mechanisms</a:t>
                      </a:r>
                    </a:p>
                  </a:txBody>
                  <a:tcPr marL="17555" marR="17555" marT="8778" marB="8778" anchor="ctr">
                    <a:lnL>
                      <a:noFill/>
                    </a:lnL>
                    <a:lnR>
                      <a:noFill/>
                    </a:lnR>
                    <a:lnT>
                      <a:noFill/>
                    </a:lnT>
                    <a:lnB>
                      <a:noFill/>
                    </a:lnB>
                    <a:noFill/>
                  </a:tcPr>
                </a:tc>
                <a:extLst>
                  <a:ext uri="{0D108BD9-81ED-4DB2-BD59-A6C34878D82A}">
                    <a16:rowId xmlns:a16="http://schemas.microsoft.com/office/drawing/2014/main" val="2866502331"/>
                  </a:ext>
                </a:extLst>
              </a:tr>
              <a:tr h="559854">
                <a:tc>
                  <a:txBody>
                    <a:bodyPr/>
                    <a:lstStyle/>
                    <a:p>
                      <a:pPr>
                        <a:buNone/>
                      </a:pPr>
                      <a:endParaRPr lang="en-US" sz="1100"/>
                    </a:p>
                  </a:txBody>
                  <a:tcPr marL="17555" marR="17555" marT="8778" marB="8778" anchor="ctr">
                    <a:lnL>
                      <a:noFill/>
                    </a:lnL>
                    <a:lnR>
                      <a:noFill/>
                    </a:lnR>
                    <a:lnT>
                      <a:noFill/>
                    </a:lnT>
                    <a:lnB>
                      <a:noFill/>
                    </a:lnB>
                    <a:noFill/>
                  </a:tcPr>
                </a:tc>
                <a:tc>
                  <a:txBody>
                    <a:bodyPr/>
                    <a:lstStyle/>
                    <a:p>
                      <a:pPr>
                        <a:buNone/>
                      </a:pPr>
                      <a:r>
                        <a:rPr lang="en-US" sz="1100"/>
                        <a:t>Operational</a:t>
                      </a:r>
                    </a:p>
                  </a:txBody>
                  <a:tcPr marL="17555" marR="17555" marT="8778" marB="8778" anchor="ctr">
                    <a:lnL>
                      <a:noFill/>
                    </a:lnL>
                    <a:lnR>
                      <a:noFill/>
                    </a:lnR>
                    <a:lnT>
                      <a:noFill/>
                    </a:lnT>
                    <a:lnB>
                      <a:noFill/>
                    </a:lnB>
                    <a:noFill/>
                  </a:tcPr>
                </a:tc>
                <a:tc>
                  <a:txBody>
                    <a:bodyPr/>
                    <a:lstStyle/>
                    <a:p>
                      <a:pPr>
                        <a:buNone/>
                      </a:pPr>
                      <a:r>
                        <a:rPr lang="en-US" sz="1100"/>
                        <a:t>Incorrect inventory updates</a:t>
                      </a:r>
                    </a:p>
                  </a:txBody>
                  <a:tcPr marL="17555" marR="17555" marT="8778" marB="8778" anchor="ctr">
                    <a:lnL>
                      <a:noFill/>
                    </a:lnL>
                    <a:lnR>
                      <a:noFill/>
                    </a:lnR>
                    <a:lnT>
                      <a:noFill/>
                    </a:lnT>
                    <a:lnB>
                      <a:noFill/>
                    </a:lnB>
                    <a:noFill/>
                  </a:tcPr>
                </a:tc>
                <a:tc>
                  <a:txBody>
                    <a:bodyPr/>
                    <a:lstStyle/>
                    <a:p>
                      <a:pPr>
                        <a:buNone/>
                      </a:pPr>
                      <a:r>
                        <a:rPr lang="en-US" sz="1100"/>
                        <a:t>Overstocking or stockouts leading to losses</a:t>
                      </a:r>
                    </a:p>
                  </a:txBody>
                  <a:tcPr marL="17555" marR="17555" marT="8778" marB="8778" anchor="ctr">
                    <a:lnL>
                      <a:noFill/>
                    </a:lnL>
                    <a:lnR>
                      <a:noFill/>
                    </a:lnR>
                    <a:lnT>
                      <a:noFill/>
                    </a:lnT>
                    <a:lnB>
                      <a:noFill/>
                    </a:lnB>
                    <a:noFill/>
                  </a:tcPr>
                </a:tc>
                <a:tc>
                  <a:txBody>
                    <a:bodyPr/>
                    <a:lstStyle/>
                    <a:p>
                      <a:pPr>
                        <a:buNone/>
                      </a:pPr>
                      <a:r>
                        <a:rPr lang="en-US" sz="1100"/>
                        <a:t>Medium</a:t>
                      </a:r>
                    </a:p>
                  </a:txBody>
                  <a:tcPr marL="17555" marR="17555" marT="8778" marB="8778" anchor="ctr">
                    <a:lnL>
                      <a:noFill/>
                    </a:lnL>
                    <a:lnR>
                      <a:noFill/>
                    </a:lnR>
                    <a:lnT>
                      <a:noFill/>
                    </a:lnT>
                    <a:lnB>
                      <a:noFill/>
                    </a:lnB>
                    <a:noFill/>
                  </a:tcPr>
                </a:tc>
                <a:tc>
                  <a:txBody>
                    <a:bodyPr/>
                    <a:lstStyle/>
                    <a:p>
                      <a:pPr>
                        <a:buNone/>
                      </a:pPr>
                      <a:r>
                        <a:rPr lang="en-US" sz="1100"/>
                        <a:t>High</a:t>
                      </a:r>
                    </a:p>
                  </a:txBody>
                  <a:tcPr marL="17555" marR="17555" marT="8778" marB="8778" anchor="ctr">
                    <a:lnL>
                      <a:noFill/>
                    </a:lnL>
                    <a:lnR>
                      <a:noFill/>
                    </a:lnR>
                    <a:lnT>
                      <a:noFill/>
                    </a:lnT>
                    <a:lnB>
                      <a:noFill/>
                    </a:lnB>
                    <a:noFill/>
                  </a:tcPr>
                </a:tc>
                <a:tc>
                  <a:txBody>
                    <a:bodyPr/>
                    <a:lstStyle/>
                    <a:p>
                      <a:pPr>
                        <a:buNone/>
                      </a:pPr>
                      <a:r>
                        <a:rPr lang="en-US" sz="1100"/>
                        <a:t>High</a:t>
                      </a:r>
                    </a:p>
                  </a:txBody>
                  <a:tcPr marL="17555" marR="17555" marT="8778" marB="8778" anchor="ctr">
                    <a:lnL>
                      <a:noFill/>
                    </a:lnL>
                    <a:lnR>
                      <a:noFill/>
                    </a:lnR>
                    <a:lnT>
                      <a:noFill/>
                    </a:lnT>
                    <a:lnB>
                      <a:noFill/>
                    </a:lnB>
                    <a:noFill/>
                  </a:tcPr>
                </a:tc>
                <a:tc>
                  <a:txBody>
                    <a:bodyPr/>
                    <a:lstStyle/>
                    <a:p>
                      <a:pPr>
                        <a:buNone/>
                      </a:pPr>
                      <a:r>
                        <a:rPr lang="en-US" sz="1100"/>
                        <a:t>Perform thorough testing and validation</a:t>
                      </a:r>
                    </a:p>
                  </a:txBody>
                  <a:tcPr marL="17555" marR="17555" marT="8778" marB="8778" anchor="ctr">
                    <a:lnL>
                      <a:noFill/>
                    </a:lnL>
                    <a:lnR>
                      <a:noFill/>
                    </a:lnR>
                    <a:lnT>
                      <a:noFill/>
                    </a:lnT>
                    <a:lnB>
                      <a:noFill/>
                    </a:lnB>
                    <a:noFill/>
                  </a:tcPr>
                </a:tc>
                <a:extLst>
                  <a:ext uri="{0D108BD9-81ED-4DB2-BD59-A6C34878D82A}">
                    <a16:rowId xmlns:a16="http://schemas.microsoft.com/office/drawing/2014/main" val="3703387380"/>
                  </a:ext>
                </a:extLst>
              </a:tr>
              <a:tr h="504518">
                <a:tc>
                  <a:txBody>
                    <a:bodyPr/>
                    <a:lstStyle/>
                    <a:p>
                      <a:pPr>
                        <a:buNone/>
                      </a:pPr>
                      <a:endParaRPr lang="en-US" sz="1100"/>
                    </a:p>
                  </a:txBody>
                  <a:tcPr marL="17555" marR="17555" marT="8778" marB="8778" anchor="ctr">
                    <a:lnL>
                      <a:noFill/>
                    </a:lnL>
                    <a:lnR>
                      <a:noFill/>
                    </a:lnR>
                    <a:lnT>
                      <a:noFill/>
                    </a:lnT>
                    <a:lnB>
                      <a:noFill/>
                    </a:lnB>
                    <a:noFill/>
                  </a:tcPr>
                </a:tc>
                <a:tc>
                  <a:txBody>
                    <a:bodyPr/>
                    <a:lstStyle/>
                    <a:p>
                      <a:pPr>
                        <a:buNone/>
                      </a:pPr>
                      <a:r>
                        <a:rPr lang="en-US" sz="1100"/>
                        <a:t>Technical</a:t>
                      </a:r>
                    </a:p>
                  </a:txBody>
                  <a:tcPr marL="17555" marR="17555" marT="8778" marB="8778" anchor="ctr">
                    <a:lnL>
                      <a:noFill/>
                    </a:lnL>
                    <a:lnR>
                      <a:noFill/>
                    </a:lnR>
                    <a:lnT>
                      <a:noFill/>
                    </a:lnT>
                    <a:lnB>
                      <a:noFill/>
                    </a:lnB>
                    <a:noFill/>
                  </a:tcPr>
                </a:tc>
                <a:tc>
                  <a:txBody>
                    <a:bodyPr/>
                    <a:lstStyle/>
                    <a:p>
                      <a:pPr>
                        <a:buNone/>
                      </a:pPr>
                      <a:r>
                        <a:rPr lang="en-US" sz="1100"/>
                        <a:t>Data loss due to system failure</a:t>
                      </a:r>
                    </a:p>
                  </a:txBody>
                  <a:tcPr marL="17555" marR="17555" marT="8778" marB="8778" anchor="ctr">
                    <a:lnL>
                      <a:noFill/>
                    </a:lnL>
                    <a:lnR>
                      <a:noFill/>
                    </a:lnR>
                    <a:lnT>
                      <a:noFill/>
                    </a:lnT>
                    <a:lnB>
                      <a:noFill/>
                    </a:lnB>
                    <a:noFill/>
                  </a:tcPr>
                </a:tc>
                <a:tc>
                  <a:txBody>
                    <a:bodyPr/>
                    <a:lstStyle/>
                    <a:p>
                      <a:pPr>
                        <a:buNone/>
                      </a:pPr>
                      <a:r>
                        <a:rPr lang="en-US" sz="1100"/>
                        <a:t>Loss of financial and sales records</a:t>
                      </a:r>
                    </a:p>
                  </a:txBody>
                  <a:tcPr marL="17555" marR="17555" marT="8778" marB="8778" anchor="ctr">
                    <a:lnL>
                      <a:noFill/>
                    </a:lnL>
                    <a:lnR>
                      <a:noFill/>
                    </a:lnR>
                    <a:lnT>
                      <a:noFill/>
                    </a:lnT>
                    <a:lnB>
                      <a:noFill/>
                    </a:lnB>
                    <a:noFill/>
                  </a:tcPr>
                </a:tc>
                <a:tc>
                  <a:txBody>
                    <a:bodyPr/>
                    <a:lstStyle/>
                    <a:p>
                      <a:pPr>
                        <a:buNone/>
                      </a:pPr>
                      <a:r>
                        <a:rPr lang="en-US" sz="1100"/>
                        <a:t>Medium</a:t>
                      </a:r>
                    </a:p>
                  </a:txBody>
                  <a:tcPr marL="17555" marR="17555" marT="8778" marB="8778" anchor="ctr">
                    <a:lnL>
                      <a:noFill/>
                    </a:lnL>
                    <a:lnR>
                      <a:noFill/>
                    </a:lnR>
                    <a:lnT>
                      <a:noFill/>
                    </a:lnT>
                    <a:lnB>
                      <a:noFill/>
                    </a:lnB>
                    <a:noFill/>
                  </a:tcPr>
                </a:tc>
                <a:tc>
                  <a:txBody>
                    <a:bodyPr/>
                    <a:lstStyle/>
                    <a:p>
                      <a:pPr>
                        <a:buNone/>
                      </a:pPr>
                      <a:r>
                        <a:rPr lang="en-US" sz="1100"/>
                        <a:t>High</a:t>
                      </a:r>
                    </a:p>
                  </a:txBody>
                  <a:tcPr marL="17555" marR="17555" marT="8778" marB="8778" anchor="ctr">
                    <a:lnL>
                      <a:noFill/>
                    </a:lnL>
                    <a:lnR>
                      <a:noFill/>
                    </a:lnR>
                    <a:lnT>
                      <a:noFill/>
                    </a:lnT>
                    <a:lnB>
                      <a:noFill/>
                    </a:lnB>
                    <a:noFill/>
                  </a:tcPr>
                </a:tc>
                <a:tc>
                  <a:txBody>
                    <a:bodyPr/>
                    <a:lstStyle/>
                    <a:p>
                      <a:pPr>
                        <a:buNone/>
                      </a:pPr>
                      <a:r>
                        <a:rPr lang="en-US" sz="1100"/>
                        <a:t>High</a:t>
                      </a:r>
                    </a:p>
                  </a:txBody>
                  <a:tcPr marL="17555" marR="17555" marT="8778" marB="8778" anchor="ctr">
                    <a:lnL>
                      <a:noFill/>
                    </a:lnL>
                    <a:lnR>
                      <a:noFill/>
                    </a:lnR>
                    <a:lnT>
                      <a:noFill/>
                    </a:lnT>
                    <a:lnB>
                      <a:noFill/>
                    </a:lnB>
                    <a:noFill/>
                  </a:tcPr>
                </a:tc>
                <a:tc>
                  <a:txBody>
                    <a:bodyPr/>
                    <a:lstStyle/>
                    <a:p>
                      <a:pPr>
                        <a:buNone/>
                      </a:pPr>
                      <a:r>
                        <a:rPr lang="en-US" sz="1100"/>
                        <a:t>Regular database backups</a:t>
                      </a:r>
                    </a:p>
                  </a:txBody>
                  <a:tcPr marL="17555" marR="17555" marT="8778" marB="8778" anchor="ctr">
                    <a:lnL>
                      <a:noFill/>
                    </a:lnL>
                    <a:lnR>
                      <a:noFill/>
                    </a:lnR>
                    <a:lnT>
                      <a:noFill/>
                    </a:lnT>
                    <a:lnB>
                      <a:noFill/>
                    </a:lnB>
                    <a:noFill/>
                  </a:tcPr>
                </a:tc>
                <a:extLst>
                  <a:ext uri="{0D108BD9-81ED-4DB2-BD59-A6C34878D82A}">
                    <a16:rowId xmlns:a16="http://schemas.microsoft.com/office/drawing/2014/main" val="2050233594"/>
                  </a:ext>
                </a:extLst>
              </a:tr>
              <a:tr h="559854">
                <a:tc>
                  <a:txBody>
                    <a:bodyPr/>
                    <a:lstStyle/>
                    <a:p>
                      <a:pPr>
                        <a:buNone/>
                      </a:pPr>
                      <a:endParaRPr lang="en-US" sz="1100"/>
                    </a:p>
                  </a:txBody>
                  <a:tcPr marL="17555" marR="17555" marT="8778" marB="8778" anchor="ctr">
                    <a:lnL>
                      <a:noFill/>
                    </a:lnL>
                    <a:lnR>
                      <a:noFill/>
                    </a:lnR>
                    <a:lnT>
                      <a:noFill/>
                    </a:lnT>
                    <a:lnB>
                      <a:noFill/>
                    </a:lnB>
                    <a:noFill/>
                  </a:tcPr>
                </a:tc>
                <a:tc>
                  <a:txBody>
                    <a:bodyPr/>
                    <a:lstStyle/>
                    <a:p>
                      <a:pPr>
                        <a:buNone/>
                      </a:pPr>
                      <a:r>
                        <a:rPr lang="en-US" sz="1100"/>
                        <a:t>Technical</a:t>
                      </a:r>
                    </a:p>
                  </a:txBody>
                  <a:tcPr marL="17555" marR="17555" marT="8778" marB="8778" anchor="ctr">
                    <a:lnL>
                      <a:noFill/>
                    </a:lnL>
                    <a:lnR>
                      <a:noFill/>
                    </a:lnR>
                    <a:lnT>
                      <a:noFill/>
                    </a:lnT>
                    <a:lnB>
                      <a:noFill/>
                    </a:lnB>
                    <a:noFill/>
                  </a:tcPr>
                </a:tc>
                <a:tc>
                  <a:txBody>
                    <a:bodyPr/>
                    <a:lstStyle/>
                    <a:p>
                      <a:pPr>
                        <a:buNone/>
                      </a:pPr>
                      <a:r>
                        <a:rPr lang="en-US" sz="1100"/>
                        <a:t>Security breach or unauthorized access</a:t>
                      </a:r>
                    </a:p>
                  </a:txBody>
                  <a:tcPr marL="17555" marR="17555" marT="8778" marB="8778" anchor="ctr">
                    <a:lnL>
                      <a:noFill/>
                    </a:lnL>
                    <a:lnR>
                      <a:noFill/>
                    </a:lnR>
                    <a:lnT>
                      <a:noFill/>
                    </a:lnT>
                    <a:lnB>
                      <a:noFill/>
                    </a:lnB>
                    <a:noFill/>
                  </a:tcPr>
                </a:tc>
                <a:tc>
                  <a:txBody>
                    <a:bodyPr/>
                    <a:lstStyle/>
                    <a:p>
                      <a:pPr>
                        <a:buNone/>
                      </a:pPr>
                      <a:r>
                        <a:rPr lang="en-US" sz="1100"/>
                        <a:t>Financial fraud and reputational damage</a:t>
                      </a:r>
                    </a:p>
                  </a:txBody>
                  <a:tcPr marL="17555" marR="17555" marT="8778" marB="8778" anchor="ctr">
                    <a:lnL>
                      <a:noFill/>
                    </a:lnL>
                    <a:lnR>
                      <a:noFill/>
                    </a:lnR>
                    <a:lnT>
                      <a:noFill/>
                    </a:lnT>
                    <a:lnB>
                      <a:noFill/>
                    </a:lnB>
                    <a:noFill/>
                  </a:tcPr>
                </a:tc>
                <a:tc>
                  <a:txBody>
                    <a:bodyPr/>
                    <a:lstStyle/>
                    <a:p>
                      <a:pPr>
                        <a:buNone/>
                      </a:pPr>
                      <a:r>
                        <a:rPr lang="en-US" sz="1100"/>
                        <a:t>Low</a:t>
                      </a:r>
                    </a:p>
                  </a:txBody>
                  <a:tcPr marL="17555" marR="17555" marT="8778" marB="8778" anchor="ctr">
                    <a:lnL>
                      <a:noFill/>
                    </a:lnL>
                    <a:lnR>
                      <a:noFill/>
                    </a:lnR>
                    <a:lnT>
                      <a:noFill/>
                    </a:lnT>
                    <a:lnB>
                      <a:noFill/>
                    </a:lnB>
                    <a:noFill/>
                  </a:tcPr>
                </a:tc>
                <a:tc>
                  <a:txBody>
                    <a:bodyPr/>
                    <a:lstStyle/>
                    <a:p>
                      <a:pPr>
                        <a:buNone/>
                      </a:pPr>
                      <a:r>
                        <a:rPr lang="en-US" sz="1100" dirty="0"/>
                        <a:t>High</a:t>
                      </a:r>
                    </a:p>
                  </a:txBody>
                  <a:tcPr marL="17555" marR="17555" marT="8778" marB="8778" anchor="ctr">
                    <a:lnL>
                      <a:noFill/>
                    </a:lnL>
                    <a:lnR>
                      <a:noFill/>
                    </a:lnR>
                    <a:lnT>
                      <a:noFill/>
                    </a:lnT>
                    <a:lnB>
                      <a:noFill/>
                    </a:lnB>
                    <a:noFill/>
                  </a:tcPr>
                </a:tc>
                <a:tc>
                  <a:txBody>
                    <a:bodyPr/>
                    <a:lstStyle/>
                    <a:p>
                      <a:pPr>
                        <a:buNone/>
                      </a:pPr>
                      <a:r>
                        <a:rPr lang="en-US" sz="1100"/>
                        <a:t>Medium</a:t>
                      </a:r>
                    </a:p>
                  </a:txBody>
                  <a:tcPr marL="17555" marR="17555" marT="8778" marB="8778" anchor="ctr">
                    <a:lnL>
                      <a:noFill/>
                    </a:lnL>
                    <a:lnR>
                      <a:noFill/>
                    </a:lnR>
                    <a:lnT>
                      <a:noFill/>
                    </a:lnT>
                    <a:lnB>
                      <a:noFill/>
                    </a:lnB>
                    <a:noFill/>
                  </a:tcPr>
                </a:tc>
                <a:tc>
                  <a:txBody>
                    <a:bodyPr/>
                    <a:lstStyle/>
                    <a:p>
                      <a:pPr>
                        <a:buNone/>
                      </a:pPr>
                      <a:r>
                        <a:rPr lang="en-US" sz="1100"/>
                        <a:t>Role-based authentication and encryption</a:t>
                      </a:r>
                    </a:p>
                  </a:txBody>
                  <a:tcPr marL="17555" marR="17555" marT="8778" marB="8778" anchor="ctr">
                    <a:lnL>
                      <a:noFill/>
                    </a:lnL>
                    <a:lnR>
                      <a:noFill/>
                    </a:lnR>
                    <a:lnT>
                      <a:noFill/>
                    </a:lnT>
                    <a:lnB>
                      <a:noFill/>
                    </a:lnB>
                    <a:noFill/>
                  </a:tcPr>
                </a:tc>
                <a:extLst>
                  <a:ext uri="{0D108BD9-81ED-4DB2-BD59-A6C34878D82A}">
                    <a16:rowId xmlns:a16="http://schemas.microsoft.com/office/drawing/2014/main" val="650931203"/>
                  </a:ext>
                </a:extLst>
              </a:tr>
              <a:tr h="829518">
                <a:tc>
                  <a:txBody>
                    <a:bodyPr/>
                    <a:lstStyle/>
                    <a:p>
                      <a:pPr>
                        <a:buNone/>
                      </a:pPr>
                      <a:endParaRPr lang="en-US" sz="1100"/>
                    </a:p>
                  </a:txBody>
                  <a:tcPr marL="17555" marR="17555" marT="8778" marB="8778" anchor="ctr">
                    <a:lnL>
                      <a:noFill/>
                    </a:lnL>
                    <a:lnR>
                      <a:noFill/>
                    </a:lnR>
                    <a:lnT>
                      <a:noFill/>
                    </a:lnT>
                    <a:lnB>
                      <a:noFill/>
                    </a:lnB>
                    <a:noFill/>
                  </a:tcPr>
                </a:tc>
                <a:tc>
                  <a:txBody>
                    <a:bodyPr/>
                    <a:lstStyle/>
                    <a:p>
                      <a:pPr>
                        <a:buNone/>
                      </a:pPr>
                      <a:r>
                        <a:rPr lang="en-US" sz="1100"/>
                        <a:t>Technical</a:t>
                      </a:r>
                    </a:p>
                  </a:txBody>
                  <a:tcPr marL="17555" marR="17555" marT="8778" marB="8778" anchor="ctr">
                    <a:lnL>
                      <a:noFill/>
                    </a:lnL>
                    <a:lnR>
                      <a:noFill/>
                    </a:lnR>
                    <a:lnT>
                      <a:noFill/>
                    </a:lnT>
                    <a:lnB>
                      <a:noFill/>
                    </a:lnB>
                    <a:noFill/>
                  </a:tcPr>
                </a:tc>
                <a:tc>
                  <a:txBody>
                    <a:bodyPr/>
                    <a:lstStyle/>
                    <a:p>
                      <a:pPr>
                        <a:buNone/>
                      </a:pPr>
                      <a:r>
                        <a:rPr lang="en-US" sz="1100"/>
                        <a:t>Poor system performance</a:t>
                      </a:r>
                    </a:p>
                  </a:txBody>
                  <a:tcPr marL="17555" marR="17555" marT="8778" marB="8778" anchor="ctr">
                    <a:lnL>
                      <a:noFill/>
                    </a:lnL>
                    <a:lnR>
                      <a:noFill/>
                    </a:lnR>
                    <a:lnT>
                      <a:noFill/>
                    </a:lnT>
                    <a:lnB>
                      <a:noFill/>
                    </a:lnB>
                    <a:noFill/>
                  </a:tcPr>
                </a:tc>
                <a:tc>
                  <a:txBody>
                    <a:bodyPr/>
                    <a:lstStyle/>
                    <a:p>
                      <a:pPr>
                        <a:buNone/>
                      </a:pPr>
                      <a:r>
                        <a:rPr lang="en-US" sz="1100"/>
                        <a:t>Long queues and customer dissatisfaction</a:t>
                      </a:r>
                    </a:p>
                  </a:txBody>
                  <a:tcPr marL="17555" marR="17555" marT="8778" marB="8778" anchor="ctr">
                    <a:lnL>
                      <a:noFill/>
                    </a:lnL>
                    <a:lnR>
                      <a:noFill/>
                    </a:lnR>
                    <a:lnT>
                      <a:noFill/>
                    </a:lnT>
                    <a:lnB>
                      <a:noFill/>
                    </a:lnB>
                    <a:noFill/>
                  </a:tcPr>
                </a:tc>
                <a:tc>
                  <a:txBody>
                    <a:bodyPr/>
                    <a:lstStyle/>
                    <a:p>
                      <a:pPr>
                        <a:buNone/>
                      </a:pPr>
                      <a:r>
                        <a:rPr lang="en-US" sz="1100"/>
                        <a:t>Medium</a:t>
                      </a:r>
                    </a:p>
                  </a:txBody>
                  <a:tcPr marL="17555" marR="17555" marT="8778" marB="8778" anchor="ctr">
                    <a:lnL>
                      <a:noFill/>
                    </a:lnL>
                    <a:lnR>
                      <a:noFill/>
                    </a:lnR>
                    <a:lnT>
                      <a:noFill/>
                    </a:lnT>
                    <a:lnB>
                      <a:noFill/>
                    </a:lnB>
                    <a:noFill/>
                  </a:tcPr>
                </a:tc>
                <a:tc>
                  <a:txBody>
                    <a:bodyPr/>
                    <a:lstStyle/>
                    <a:p>
                      <a:pPr>
                        <a:buNone/>
                      </a:pPr>
                      <a:r>
                        <a:rPr lang="en-US" sz="1100"/>
                        <a:t>Medium</a:t>
                      </a:r>
                    </a:p>
                  </a:txBody>
                  <a:tcPr marL="17555" marR="17555" marT="8778" marB="8778" anchor="ctr">
                    <a:lnL>
                      <a:noFill/>
                    </a:lnL>
                    <a:lnR>
                      <a:noFill/>
                    </a:lnR>
                    <a:lnT>
                      <a:noFill/>
                    </a:lnT>
                    <a:lnB>
                      <a:noFill/>
                    </a:lnB>
                    <a:noFill/>
                  </a:tcPr>
                </a:tc>
                <a:tc>
                  <a:txBody>
                    <a:bodyPr/>
                    <a:lstStyle/>
                    <a:p>
                      <a:pPr>
                        <a:buNone/>
                      </a:pPr>
                      <a:r>
                        <a:rPr lang="en-US" sz="1100"/>
                        <a:t>Medium</a:t>
                      </a:r>
                    </a:p>
                  </a:txBody>
                  <a:tcPr marL="17555" marR="17555" marT="8778" marB="8778" anchor="ctr">
                    <a:lnL>
                      <a:noFill/>
                    </a:lnL>
                    <a:lnR>
                      <a:noFill/>
                    </a:lnR>
                    <a:lnT>
                      <a:noFill/>
                    </a:lnT>
                    <a:lnB>
                      <a:noFill/>
                    </a:lnB>
                    <a:noFill/>
                  </a:tcPr>
                </a:tc>
                <a:tc>
                  <a:txBody>
                    <a:bodyPr/>
                    <a:lstStyle/>
                    <a:p>
                      <a:pPr>
                        <a:buNone/>
                      </a:pPr>
                      <a:r>
                        <a:rPr lang="en-US" sz="1100"/>
                        <a:t>Optimize database and conduct performance testing</a:t>
                      </a:r>
                    </a:p>
                  </a:txBody>
                  <a:tcPr marL="17555" marR="17555" marT="8778" marB="8778" anchor="ctr">
                    <a:lnL>
                      <a:noFill/>
                    </a:lnL>
                    <a:lnR>
                      <a:noFill/>
                    </a:lnR>
                    <a:lnT>
                      <a:noFill/>
                    </a:lnT>
                    <a:lnB>
                      <a:noFill/>
                    </a:lnB>
                    <a:noFill/>
                  </a:tcPr>
                </a:tc>
                <a:extLst>
                  <a:ext uri="{0D108BD9-81ED-4DB2-BD59-A6C34878D82A}">
                    <a16:rowId xmlns:a16="http://schemas.microsoft.com/office/drawing/2014/main" val="3647181974"/>
                  </a:ext>
                </a:extLst>
              </a:tr>
              <a:tr h="559854">
                <a:tc>
                  <a:txBody>
                    <a:bodyPr/>
                    <a:lstStyle/>
                    <a:p>
                      <a:pPr>
                        <a:buNone/>
                      </a:pPr>
                      <a:endParaRPr lang="en-US" sz="1100" dirty="0"/>
                    </a:p>
                  </a:txBody>
                  <a:tcPr marL="17555" marR="17555" marT="8778" marB="8778" anchor="ctr">
                    <a:lnL>
                      <a:noFill/>
                    </a:lnL>
                    <a:lnR>
                      <a:noFill/>
                    </a:lnR>
                    <a:lnT>
                      <a:noFill/>
                    </a:lnT>
                    <a:lnB>
                      <a:noFill/>
                    </a:lnB>
                    <a:noFill/>
                  </a:tcPr>
                </a:tc>
                <a:tc>
                  <a:txBody>
                    <a:bodyPr/>
                    <a:lstStyle/>
                    <a:p>
                      <a:pPr>
                        <a:buNone/>
                      </a:pPr>
                      <a:endParaRPr lang="en-US" sz="1100" dirty="0"/>
                    </a:p>
                  </a:txBody>
                  <a:tcPr marL="17555" marR="17555" marT="8778" marB="8778" anchor="ctr">
                    <a:lnL>
                      <a:noFill/>
                    </a:lnL>
                    <a:lnR>
                      <a:noFill/>
                    </a:lnR>
                    <a:lnT>
                      <a:noFill/>
                    </a:lnT>
                    <a:lnB>
                      <a:noFill/>
                    </a:lnB>
                    <a:noFill/>
                  </a:tcPr>
                </a:tc>
                <a:tc>
                  <a:txBody>
                    <a:bodyPr/>
                    <a:lstStyle/>
                    <a:p>
                      <a:pPr>
                        <a:buNone/>
                      </a:pPr>
                      <a:endParaRPr lang="en-US" sz="1100" dirty="0"/>
                    </a:p>
                  </a:txBody>
                  <a:tcPr marL="17555" marR="17555" marT="8778" marB="8778" anchor="ctr">
                    <a:lnL>
                      <a:noFill/>
                    </a:lnL>
                    <a:lnR>
                      <a:noFill/>
                    </a:lnR>
                    <a:lnT>
                      <a:noFill/>
                    </a:lnT>
                    <a:lnB>
                      <a:noFill/>
                    </a:lnB>
                    <a:noFill/>
                  </a:tcPr>
                </a:tc>
                <a:tc>
                  <a:txBody>
                    <a:bodyPr/>
                    <a:lstStyle/>
                    <a:p>
                      <a:pPr>
                        <a:buNone/>
                      </a:pPr>
                      <a:endParaRPr lang="en-US" sz="1100" dirty="0"/>
                    </a:p>
                  </a:txBody>
                  <a:tcPr marL="17555" marR="17555" marT="8778" marB="8778" anchor="ctr">
                    <a:lnL>
                      <a:noFill/>
                    </a:lnL>
                    <a:lnR>
                      <a:noFill/>
                    </a:lnR>
                    <a:lnT>
                      <a:noFill/>
                    </a:lnT>
                    <a:lnB>
                      <a:noFill/>
                    </a:lnB>
                    <a:noFill/>
                  </a:tcPr>
                </a:tc>
                <a:tc>
                  <a:txBody>
                    <a:bodyPr/>
                    <a:lstStyle/>
                    <a:p>
                      <a:pPr>
                        <a:buNone/>
                      </a:pPr>
                      <a:endParaRPr lang="en-US" sz="1100" dirty="0"/>
                    </a:p>
                  </a:txBody>
                  <a:tcPr marL="17555" marR="17555" marT="8778" marB="8778" anchor="ctr">
                    <a:lnL>
                      <a:noFill/>
                    </a:lnL>
                    <a:lnR>
                      <a:noFill/>
                    </a:lnR>
                    <a:lnT>
                      <a:noFill/>
                    </a:lnT>
                    <a:lnB>
                      <a:noFill/>
                    </a:lnB>
                    <a:noFill/>
                  </a:tcPr>
                </a:tc>
                <a:tc>
                  <a:txBody>
                    <a:bodyPr/>
                    <a:lstStyle/>
                    <a:p>
                      <a:pPr>
                        <a:buNone/>
                      </a:pPr>
                      <a:endParaRPr lang="en-US" sz="1100" dirty="0"/>
                    </a:p>
                  </a:txBody>
                  <a:tcPr marL="17555" marR="17555" marT="8778" marB="8778" anchor="ctr">
                    <a:lnL>
                      <a:noFill/>
                    </a:lnL>
                    <a:lnR>
                      <a:noFill/>
                    </a:lnR>
                    <a:lnT>
                      <a:noFill/>
                    </a:lnT>
                    <a:lnB>
                      <a:noFill/>
                    </a:lnB>
                    <a:noFill/>
                  </a:tcPr>
                </a:tc>
                <a:tc>
                  <a:txBody>
                    <a:bodyPr/>
                    <a:lstStyle/>
                    <a:p>
                      <a:pPr>
                        <a:buNone/>
                      </a:pPr>
                      <a:endParaRPr lang="en-US" sz="1100" dirty="0"/>
                    </a:p>
                  </a:txBody>
                  <a:tcPr marL="17555" marR="17555" marT="8778" marB="8778" anchor="ctr">
                    <a:lnL>
                      <a:noFill/>
                    </a:lnL>
                    <a:lnR>
                      <a:noFill/>
                    </a:lnR>
                    <a:lnT>
                      <a:noFill/>
                    </a:lnT>
                    <a:lnB>
                      <a:noFill/>
                    </a:lnB>
                    <a:noFill/>
                  </a:tcPr>
                </a:tc>
                <a:tc>
                  <a:txBody>
                    <a:bodyPr/>
                    <a:lstStyle/>
                    <a:p>
                      <a:pPr>
                        <a:buNone/>
                      </a:pPr>
                      <a:endParaRPr lang="en-US" sz="1100" dirty="0"/>
                    </a:p>
                  </a:txBody>
                  <a:tcPr marL="17555" marR="17555" marT="8778" marB="8778" anchor="ctr">
                    <a:lnL>
                      <a:noFill/>
                    </a:lnL>
                    <a:lnR>
                      <a:noFill/>
                    </a:lnR>
                    <a:lnT>
                      <a:noFill/>
                    </a:lnT>
                    <a:lnB>
                      <a:noFill/>
                    </a:lnB>
                    <a:noFill/>
                  </a:tcPr>
                </a:tc>
                <a:extLst>
                  <a:ext uri="{0D108BD9-81ED-4DB2-BD59-A6C34878D82A}">
                    <a16:rowId xmlns:a16="http://schemas.microsoft.com/office/drawing/2014/main" val="2877712241"/>
                  </a:ext>
                </a:extLst>
              </a:tr>
              <a:tr h="559854">
                <a:tc>
                  <a:txBody>
                    <a:bodyPr/>
                    <a:lstStyle/>
                    <a:p>
                      <a:pPr>
                        <a:buNone/>
                      </a:pPr>
                      <a:endParaRPr lang="en-US" sz="1050" dirty="0"/>
                    </a:p>
                  </a:txBody>
                  <a:tcPr marL="17555" marR="17555" marT="8778" marB="8778" anchor="ctr">
                    <a:lnL>
                      <a:noFill/>
                    </a:lnL>
                    <a:lnR>
                      <a:noFill/>
                    </a:lnR>
                    <a:lnT>
                      <a:noFill/>
                    </a:lnT>
                    <a:lnB>
                      <a:noFill/>
                    </a:lnB>
                    <a:noFill/>
                  </a:tcPr>
                </a:tc>
                <a:tc>
                  <a:txBody>
                    <a:bodyPr/>
                    <a:lstStyle/>
                    <a:p>
                      <a:pPr>
                        <a:buNone/>
                      </a:pPr>
                      <a:endParaRPr lang="en-US" sz="1050"/>
                    </a:p>
                  </a:txBody>
                  <a:tcPr marL="17555" marR="17555" marT="8778" marB="8778" anchor="ctr">
                    <a:lnL>
                      <a:noFill/>
                    </a:lnL>
                    <a:lnR>
                      <a:noFill/>
                    </a:lnR>
                    <a:lnT>
                      <a:noFill/>
                    </a:lnT>
                    <a:lnB>
                      <a:noFill/>
                    </a:lnB>
                    <a:noFill/>
                  </a:tcPr>
                </a:tc>
                <a:tc>
                  <a:txBody>
                    <a:bodyPr/>
                    <a:lstStyle/>
                    <a:p>
                      <a:pPr>
                        <a:buNone/>
                      </a:pPr>
                      <a:endParaRPr lang="en-US" sz="1050"/>
                    </a:p>
                  </a:txBody>
                  <a:tcPr marL="17555" marR="17555" marT="8778" marB="8778" anchor="ctr">
                    <a:lnL>
                      <a:noFill/>
                    </a:lnL>
                    <a:lnR>
                      <a:noFill/>
                    </a:lnR>
                    <a:lnT>
                      <a:noFill/>
                    </a:lnT>
                    <a:lnB>
                      <a:noFill/>
                    </a:lnB>
                    <a:noFill/>
                  </a:tcPr>
                </a:tc>
                <a:tc>
                  <a:txBody>
                    <a:bodyPr/>
                    <a:lstStyle/>
                    <a:p>
                      <a:pPr>
                        <a:buNone/>
                      </a:pPr>
                      <a:endParaRPr lang="en-US" sz="1050"/>
                    </a:p>
                  </a:txBody>
                  <a:tcPr marL="17555" marR="17555" marT="8778" marB="8778" anchor="ctr">
                    <a:lnL>
                      <a:noFill/>
                    </a:lnL>
                    <a:lnR>
                      <a:noFill/>
                    </a:lnR>
                    <a:lnT>
                      <a:noFill/>
                    </a:lnT>
                    <a:lnB>
                      <a:noFill/>
                    </a:lnB>
                    <a:noFill/>
                  </a:tcPr>
                </a:tc>
                <a:tc>
                  <a:txBody>
                    <a:bodyPr/>
                    <a:lstStyle/>
                    <a:p>
                      <a:pPr>
                        <a:buNone/>
                      </a:pPr>
                      <a:endParaRPr lang="en-US" sz="1050"/>
                    </a:p>
                  </a:txBody>
                  <a:tcPr marL="17555" marR="17555" marT="8778" marB="8778" anchor="ctr">
                    <a:lnL>
                      <a:noFill/>
                    </a:lnL>
                    <a:lnR>
                      <a:noFill/>
                    </a:lnR>
                    <a:lnT>
                      <a:noFill/>
                    </a:lnT>
                    <a:lnB>
                      <a:noFill/>
                    </a:lnB>
                    <a:noFill/>
                  </a:tcPr>
                </a:tc>
                <a:tc>
                  <a:txBody>
                    <a:bodyPr/>
                    <a:lstStyle/>
                    <a:p>
                      <a:pPr>
                        <a:buNone/>
                      </a:pPr>
                      <a:endParaRPr lang="en-US" sz="1050"/>
                    </a:p>
                  </a:txBody>
                  <a:tcPr marL="17555" marR="17555" marT="8778" marB="8778" anchor="ctr">
                    <a:lnL>
                      <a:noFill/>
                    </a:lnL>
                    <a:lnR>
                      <a:noFill/>
                    </a:lnR>
                    <a:lnT>
                      <a:noFill/>
                    </a:lnT>
                    <a:lnB>
                      <a:noFill/>
                    </a:lnB>
                    <a:noFill/>
                  </a:tcPr>
                </a:tc>
                <a:tc>
                  <a:txBody>
                    <a:bodyPr/>
                    <a:lstStyle/>
                    <a:p>
                      <a:pPr>
                        <a:buNone/>
                      </a:pPr>
                      <a:endParaRPr lang="en-US" sz="1050" dirty="0"/>
                    </a:p>
                  </a:txBody>
                  <a:tcPr marL="17555" marR="17555" marT="8778" marB="8778" anchor="ctr">
                    <a:lnL>
                      <a:noFill/>
                    </a:lnL>
                    <a:lnR>
                      <a:noFill/>
                    </a:lnR>
                    <a:lnT>
                      <a:noFill/>
                    </a:lnT>
                    <a:lnB>
                      <a:noFill/>
                    </a:lnB>
                    <a:noFill/>
                  </a:tcPr>
                </a:tc>
                <a:tc>
                  <a:txBody>
                    <a:bodyPr/>
                    <a:lstStyle/>
                    <a:p>
                      <a:pPr>
                        <a:buNone/>
                      </a:pPr>
                      <a:endParaRPr lang="en-US" sz="1050" dirty="0"/>
                    </a:p>
                  </a:txBody>
                  <a:tcPr marL="17555" marR="17555" marT="8778" marB="8778" anchor="ctr">
                    <a:lnL>
                      <a:noFill/>
                    </a:lnL>
                    <a:lnR>
                      <a:noFill/>
                    </a:lnR>
                    <a:lnT>
                      <a:noFill/>
                    </a:lnT>
                    <a:lnB>
                      <a:noFill/>
                    </a:lnB>
                    <a:noFill/>
                  </a:tcPr>
                </a:tc>
                <a:extLst>
                  <a:ext uri="{0D108BD9-81ED-4DB2-BD59-A6C34878D82A}">
                    <a16:rowId xmlns:a16="http://schemas.microsoft.com/office/drawing/2014/main" val="854569477"/>
                  </a:ext>
                </a:extLst>
              </a:tr>
            </a:tbl>
          </a:graphicData>
        </a:graphic>
      </p:graphicFrame>
    </p:spTree>
    <p:extLst>
      <p:ext uri="{BB962C8B-B14F-4D97-AF65-F5344CB8AC3E}">
        <p14:creationId xmlns:p14="http://schemas.microsoft.com/office/powerpoint/2010/main" val="2065453034"/>
      </p:ext>
    </p:extLst>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8A3C342-1D03-412F-8DD3-BF519E8E0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48930" y="629266"/>
            <a:ext cx="6188190" cy="1622321"/>
          </a:xfrm>
        </p:spPr>
        <p:txBody>
          <a:bodyPr>
            <a:normAutofit/>
          </a:bodyPr>
          <a:lstStyle/>
          <a:p>
            <a:r>
              <a:rPr lang="en-US" b="1">
                <a:solidFill>
                  <a:srgbClr val="EBEBEB"/>
                </a:solidFill>
              </a:rPr>
              <a:t>1.6 Feasibility Study</a:t>
            </a:r>
            <a:endParaRPr lang="en-US">
              <a:solidFill>
                <a:srgbClr val="EBEBEB"/>
              </a:solidFill>
            </a:endParaRPr>
          </a:p>
        </p:txBody>
      </p:sp>
      <p:sp>
        <p:nvSpPr>
          <p:cNvPr id="3" name="Content Placeholder 2"/>
          <p:cNvSpPr>
            <a:spLocks noGrp="1"/>
          </p:cNvSpPr>
          <p:nvPr>
            <p:ph idx="1"/>
          </p:nvPr>
        </p:nvSpPr>
        <p:spPr>
          <a:xfrm>
            <a:off x="648930" y="2438400"/>
            <a:ext cx="6188189" cy="3785419"/>
          </a:xfrm>
        </p:spPr>
        <p:txBody>
          <a:bodyPr>
            <a:normAutofit/>
          </a:bodyPr>
          <a:lstStyle/>
          <a:p>
            <a:pPr marL="0" indent="0">
              <a:buNone/>
            </a:pPr>
            <a:endParaRPr lang="en-US">
              <a:solidFill>
                <a:srgbClr val="FFFFFF"/>
              </a:solidFill>
            </a:endParaRPr>
          </a:p>
          <a:p>
            <a:r>
              <a:rPr lang="en-US">
                <a:solidFill>
                  <a:srgbClr val="FFFFFF"/>
                </a:solidFill>
              </a:rPr>
              <a:t>Technical Feasibility: Team has sufficient programming knowledge.</a:t>
            </a:r>
            <a:br>
              <a:rPr lang="en-US">
                <a:solidFill>
                  <a:srgbClr val="FFFFFF"/>
                </a:solidFill>
              </a:rPr>
            </a:br>
            <a:r>
              <a:rPr lang="en-US">
                <a:solidFill>
                  <a:srgbClr val="FFFFFF"/>
                </a:solidFill>
              </a:rPr>
              <a:t>Economic Feasibility: Development cost is minimal (student project).</a:t>
            </a:r>
            <a:br>
              <a:rPr lang="en-US">
                <a:solidFill>
                  <a:srgbClr val="FFFFFF"/>
                </a:solidFill>
              </a:rPr>
            </a:br>
            <a:r>
              <a:rPr lang="en-US">
                <a:solidFill>
                  <a:srgbClr val="FFFFFF"/>
                </a:solidFill>
              </a:rPr>
              <a:t>Operational Feasibility: System is user-friendly and easy to learn.</a:t>
            </a:r>
            <a:br>
              <a:rPr lang="en-US">
                <a:solidFill>
                  <a:srgbClr val="FFFFFF"/>
                </a:solidFill>
              </a:rPr>
            </a:br>
            <a:r>
              <a:rPr lang="en-US">
                <a:solidFill>
                  <a:srgbClr val="FFFFFF"/>
                </a:solidFill>
              </a:rPr>
              <a:t>Schedule Feasibility: Timeline is manageable.</a:t>
            </a:r>
          </a:p>
        </p:txBody>
      </p:sp>
      <p:sp>
        <p:nvSpPr>
          <p:cNvPr id="11" name="Freeform 31">
            <a:extLst>
              <a:ext uri="{FF2B5EF4-FFF2-40B4-BE49-F238E27FC236}">
                <a16:creationId xmlns:a16="http://schemas.microsoft.com/office/drawing/2014/main" id="{81CC9B02-E087-4350-AEBD-2C3CF001AF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15974"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5" name="Picture 4" descr="Top view of cubes connected with black lines">
            <a:extLst>
              <a:ext uri="{FF2B5EF4-FFF2-40B4-BE49-F238E27FC236}">
                <a16:creationId xmlns:a16="http://schemas.microsoft.com/office/drawing/2014/main" id="{3B8BC986-434A-C51F-6B43-EEFABBD05683}"/>
              </a:ext>
            </a:extLst>
          </p:cNvPr>
          <p:cNvPicPr>
            <a:picLocks noChangeAspect="1"/>
          </p:cNvPicPr>
          <p:nvPr/>
        </p:nvPicPr>
        <p:blipFill>
          <a:blip r:embed="rId3"/>
          <a:srcRect l="27822" r="17900"/>
          <a:stretch>
            <a:fillRect/>
          </a:stretch>
        </p:blipFill>
        <p:spPr>
          <a:xfrm>
            <a:off x="7229175" y="1"/>
            <a:ext cx="4963245" cy="6858001"/>
          </a:xfrm>
          <a:custGeom>
            <a:avLst/>
            <a:gdLst/>
            <a:ahLst/>
            <a:cxnLst/>
            <a:rect l="l" t="t" r="r" b="b"/>
            <a:pathLst>
              <a:path w="4963245" h="6858001">
                <a:moveTo>
                  <a:pt x="1177" y="0"/>
                </a:moveTo>
                <a:lnTo>
                  <a:pt x="1344715" y="0"/>
                </a:lnTo>
                <a:lnTo>
                  <a:pt x="1344715" y="1"/>
                </a:lnTo>
                <a:lnTo>
                  <a:pt x="4963245" y="1"/>
                </a:lnTo>
                <a:lnTo>
                  <a:pt x="4963244" y="6858001"/>
                </a:lnTo>
                <a:lnTo>
                  <a:pt x="900697" y="6858001"/>
                </a:lnTo>
                <a:lnTo>
                  <a:pt x="900697" y="6858000"/>
                </a:lnTo>
                <a:lnTo>
                  <a:pt x="0" y="6858000"/>
                </a:lnTo>
                <a:lnTo>
                  <a:pt x="5883" y="6817538"/>
                </a:lnTo>
                <a:lnTo>
                  <a:pt x="23196" y="6698894"/>
                </a:lnTo>
                <a:lnTo>
                  <a:pt x="35299" y="6612483"/>
                </a:lnTo>
                <a:lnTo>
                  <a:pt x="48073" y="6509613"/>
                </a:lnTo>
                <a:lnTo>
                  <a:pt x="63369" y="6387541"/>
                </a:lnTo>
                <a:lnTo>
                  <a:pt x="79506" y="6252438"/>
                </a:lnTo>
                <a:lnTo>
                  <a:pt x="96483" y="6100191"/>
                </a:lnTo>
                <a:lnTo>
                  <a:pt x="114469" y="5934227"/>
                </a:lnTo>
                <a:lnTo>
                  <a:pt x="132454" y="5753862"/>
                </a:lnTo>
                <a:lnTo>
                  <a:pt x="150776" y="5561838"/>
                </a:lnTo>
                <a:lnTo>
                  <a:pt x="167753" y="5354726"/>
                </a:lnTo>
                <a:lnTo>
                  <a:pt x="184058" y="5138013"/>
                </a:lnTo>
                <a:lnTo>
                  <a:pt x="198849" y="4908956"/>
                </a:lnTo>
                <a:lnTo>
                  <a:pt x="212969" y="4670298"/>
                </a:lnTo>
                <a:lnTo>
                  <a:pt x="226248" y="4421352"/>
                </a:lnTo>
                <a:lnTo>
                  <a:pt x="230955" y="4293793"/>
                </a:lnTo>
                <a:lnTo>
                  <a:pt x="236165" y="4163492"/>
                </a:lnTo>
                <a:lnTo>
                  <a:pt x="241040" y="4031133"/>
                </a:lnTo>
                <a:lnTo>
                  <a:pt x="244234" y="3898087"/>
                </a:lnTo>
                <a:lnTo>
                  <a:pt x="247091" y="3762299"/>
                </a:lnTo>
                <a:lnTo>
                  <a:pt x="250117" y="3625139"/>
                </a:lnTo>
                <a:lnTo>
                  <a:pt x="252134" y="3485236"/>
                </a:lnTo>
                <a:lnTo>
                  <a:pt x="252134" y="3343961"/>
                </a:lnTo>
                <a:lnTo>
                  <a:pt x="253142" y="3201315"/>
                </a:lnTo>
                <a:lnTo>
                  <a:pt x="252134" y="3057297"/>
                </a:lnTo>
                <a:lnTo>
                  <a:pt x="250117" y="2911221"/>
                </a:lnTo>
                <a:lnTo>
                  <a:pt x="248268" y="2765146"/>
                </a:lnTo>
                <a:lnTo>
                  <a:pt x="244234" y="2617013"/>
                </a:lnTo>
                <a:lnTo>
                  <a:pt x="240032" y="2467509"/>
                </a:lnTo>
                <a:lnTo>
                  <a:pt x="235157" y="2318004"/>
                </a:lnTo>
                <a:lnTo>
                  <a:pt x="228266" y="2167128"/>
                </a:lnTo>
                <a:lnTo>
                  <a:pt x="220029" y="2014881"/>
                </a:lnTo>
                <a:lnTo>
                  <a:pt x="212129" y="1861947"/>
                </a:lnTo>
                <a:lnTo>
                  <a:pt x="202044" y="1709014"/>
                </a:lnTo>
                <a:lnTo>
                  <a:pt x="189941" y="1554023"/>
                </a:lnTo>
                <a:lnTo>
                  <a:pt x="177839" y="1401090"/>
                </a:lnTo>
                <a:lnTo>
                  <a:pt x="163887" y="1245413"/>
                </a:lnTo>
                <a:lnTo>
                  <a:pt x="148591" y="1089051"/>
                </a:lnTo>
                <a:lnTo>
                  <a:pt x="132455" y="934746"/>
                </a:lnTo>
                <a:lnTo>
                  <a:pt x="113629" y="778383"/>
                </a:lnTo>
                <a:lnTo>
                  <a:pt x="93458" y="622707"/>
                </a:lnTo>
                <a:lnTo>
                  <a:pt x="73455" y="466344"/>
                </a:lnTo>
                <a:lnTo>
                  <a:pt x="50091" y="310668"/>
                </a:lnTo>
                <a:lnTo>
                  <a:pt x="26222" y="155677"/>
                </a:lnTo>
                <a:close/>
              </a:path>
            </a:pathLst>
          </a:custGeom>
        </p:spPr>
      </p:pic>
    </p:spTree>
    <p:extLst>
      <p:ext uri="{BB962C8B-B14F-4D97-AF65-F5344CB8AC3E}">
        <p14:creationId xmlns:p14="http://schemas.microsoft.com/office/powerpoint/2010/main" val="3017665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190F8F-D326-3DB7-4E31-CAB9DA4F3693}"/>
              </a:ext>
            </a:extLst>
          </p:cNvPr>
          <p:cNvSpPr>
            <a:spLocks noGrp="1"/>
          </p:cNvSpPr>
          <p:nvPr>
            <p:ph type="title"/>
          </p:nvPr>
        </p:nvSpPr>
        <p:spPr/>
        <p:txBody>
          <a:bodyPr/>
          <a:lstStyle/>
          <a:p>
            <a:r>
              <a:rPr lang="en-US" b="1" dirty="0"/>
              <a:t>1.7 Iteration Plan</a:t>
            </a:r>
            <a:br>
              <a:rPr lang="en-GB" dirty="0"/>
            </a:br>
            <a:endParaRPr lang="en-GB" dirty="0"/>
          </a:p>
        </p:txBody>
      </p:sp>
      <p:sp>
        <p:nvSpPr>
          <p:cNvPr id="3" name="Content Placeholder 2">
            <a:extLst>
              <a:ext uri="{FF2B5EF4-FFF2-40B4-BE49-F238E27FC236}">
                <a16:creationId xmlns:a16="http://schemas.microsoft.com/office/drawing/2014/main" id="{1FF6A1D8-FA0F-7D8A-E40E-533CDA39ED10}"/>
              </a:ext>
            </a:extLst>
          </p:cNvPr>
          <p:cNvSpPr>
            <a:spLocks noGrp="1"/>
          </p:cNvSpPr>
          <p:nvPr>
            <p:ph idx="1"/>
          </p:nvPr>
        </p:nvSpPr>
        <p:spPr>
          <a:xfrm>
            <a:off x="1103312" y="1539350"/>
            <a:ext cx="8946541" cy="5318650"/>
          </a:xfrm>
        </p:spPr>
        <p:txBody>
          <a:bodyPr>
            <a:normAutofit fontScale="62500" lnSpcReduction="20000"/>
          </a:bodyPr>
          <a:lstStyle/>
          <a:p>
            <a:r>
              <a:rPr lang="en-GB" b="1" dirty="0"/>
              <a:t>Week 1–2: Inception Phase</a:t>
            </a:r>
            <a:endParaRPr lang="en-GB" dirty="0"/>
          </a:p>
          <a:p>
            <a:r>
              <a:rPr lang="en-GB" dirty="0"/>
              <a:t>Milestone: Vision &amp; Feasibility</a:t>
            </a:r>
          </a:p>
          <a:p>
            <a:r>
              <a:rPr lang="en-GB" dirty="0"/>
              <a:t>Activities</a:t>
            </a:r>
          </a:p>
          <a:p>
            <a:pPr lvl="0"/>
            <a:r>
              <a:rPr lang="en-GB" dirty="0"/>
              <a:t>Define problem statement</a:t>
            </a:r>
          </a:p>
          <a:p>
            <a:pPr lvl="0"/>
            <a:r>
              <a:rPr lang="en-GB" dirty="0"/>
              <a:t>Develop business case</a:t>
            </a:r>
          </a:p>
          <a:p>
            <a:pPr lvl="0"/>
            <a:r>
              <a:rPr lang="en-GB" dirty="0"/>
              <a:t>Identify stakeholders</a:t>
            </a:r>
          </a:p>
          <a:p>
            <a:pPr lvl="0"/>
            <a:r>
              <a:rPr lang="en-GB" dirty="0"/>
              <a:t>Identify high-level requirements (10% use cases)</a:t>
            </a:r>
          </a:p>
          <a:p>
            <a:pPr lvl="0"/>
            <a:r>
              <a:rPr lang="en-GB" dirty="0"/>
              <a:t>Perform feasibility study</a:t>
            </a:r>
          </a:p>
          <a:p>
            <a:pPr lvl="0"/>
            <a:r>
              <a:rPr lang="en-GB" dirty="0"/>
              <a:t>Identify risks</a:t>
            </a:r>
          </a:p>
          <a:p>
            <a:r>
              <a:rPr lang="en-GB" dirty="0"/>
              <a:t>Deliverables</a:t>
            </a:r>
          </a:p>
          <a:p>
            <a:pPr lvl="0"/>
            <a:r>
              <a:rPr lang="en-GB" dirty="0"/>
              <a:t>Vision document</a:t>
            </a:r>
          </a:p>
          <a:p>
            <a:pPr lvl="0"/>
            <a:r>
              <a:rPr lang="en-GB" dirty="0"/>
              <a:t>Business case</a:t>
            </a:r>
          </a:p>
          <a:p>
            <a:pPr lvl="0"/>
            <a:r>
              <a:rPr lang="en-GB" dirty="0"/>
              <a:t>10% use cases</a:t>
            </a:r>
          </a:p>
          <a:p>
            <a:pPr lvl="0"/>
            <a:r>
              <a:rPr lang="en-GB" dirty="0"/>
              <a:t>Risk list</a:t>
            </a:r>
          </a:p>
          <a:p>
            <a:pPr lvl="0"/>
            <a:r>
              <a:rPr lang="en-GB" dirty="0"/>
              <a:t>Feasibility study</a:t>
            </a:r>
          </a:p>
          <a:p>
            <a:pPr lvl="0"/>
            <a:r>
              <a:rPr lang="en-GB" dirty="0"/>
              <a:t>Iteration plan</a:t>
            </a:r>
          </a:p>
          <a:p>
            <a:r>
              <a:rPr lang="en-GB" dirty="0"/>
              <a:t>Justification</a:t>
            </a:r>
          </a:p>
          <a:p>
            <a:r>
              <a:rPr lang="en-GB" dirty="0"/>
              <a:t>This phase ensures the project scope is clear and the system is feasible before development begins.</a:t>
            </a:r>
          </a:p>
          <a:p>
            <a:endParaRPr lang="en-GB" dirty="0"/>
          </a:p>
        </p:txBody>
      </p:sp>
    </p:spTree>
    <p:extLst>
      <p:ext uri="{BB962C8B-B14F-4D97-AF65-F5344CB8AC3E}">
        <p14:creationId xmlns:p14="http://schemas.microsoft.com/office/powerpoint/2010/main" val="21622136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99E36-1813-6C43-7B80-2D0E4BDD2256}"/>
              </a:ext>
            </a:extLst>
          </p:cNvPr>
          <p:cNvSpPr>
            <a:spLocks noGrp="1"/>
          </p:cNvSpPr>
          <p:nvPr>
            <p:ph type="title"/>
          </p:nvPr>
        </p:nvSpPr>
        <p:spPr/>
        <p:txBody>
          <a:bodyPr/>
          <a:lstStyle/>
          <a:p>
            <a:r>
              <a:rPr lang="en-GB" b="1" dirty="0"/>
              <a:t>Week 3–5: Elaboration Phase (Iteration 1)</a:t>
            </a:r>
            <a:br>
              <a:rPr lang="en-GB" dirty="0"/>
            </a:br>
            <a:endParaRPr lang="en-GB" dirty="0"/>
          </a:p>
        </p:txBody>
      </p:sp>
      <p:sp>
        <p:nvSpPr>
          <p:cNvPr id="3" name="Content Placeholder 2">
            <a:extLst>
              <a:ext uri="{FF2B5EF4-FFF2-40B4-BE49-F238E27FC236}">
                <a16:creationId xmlns:a16="http://schemas.microsoft.com/office/drawing/2014/main" id="{2EFE3791-8872-FCC9-8E15-E73AE210FF6C}"/>
              </a:ext>
            </a:extLst>
          </p:cNvPr>
          <p:cNvSpPr>
            <a:spLocks noGrp="1"/>
          </p:cNvSpPr>
          <p:nvPr>
            <p:ph idx="1"/>
          </p:nvPr>
        </p:nvSpPr>
        <p:spPr>
          <a:xfrm>
            <a:off x="1103312" y="2052918"/>
            <a:ext cx="10560222" cy="4755744"/>
          </a:xfrm>
        </p:spPr>
        <p:txBody>
          <a:bodyPr>
            <a:normAutofit fontScale="70000" lnSpcReduction="20000"/>
          </a:bodyPr>
          <a:lstStyle/>
          <a:p>
            <a:pPr marL="0" indent="0">
              <a:buNone/>
            </a:pPr>
            <a:endParaRPr lang="en-GB" dirty="0"/>
          </a:p>
          <a:p>
            <a:r>
              <a:rPr lang="en-GB" dirty="0"/>
              <a:t>Milestone: Core Architecture &amp; Requirements</a:t>
            </a:r>
          </a:p>
          <a:p>
            <a:r>
              <a:rPr lang="en-GB" dirty="0"/>
              <a:t>Activities</a:t>
            </a:r>
          </a:p>
          <a:p>
            <a:pPr lvl="0"/>
            <a:r>
              <a:rPr lang="en-GB" dirty="0"/>
              <a:t>Detail 30% of use cases</a:t>
            </a:r>
          </a:p>
          <a:p>
            <a:pPr lvl="0"/>
            <a:r>
              <a:rPr lang="en-GB" dirty="0"/>
              <a:t>Develop domain model</a:t>
            </a:r>
          </a:p>
          <a:p>
            <a:pPr lvl="0"/>
            <a:r>
              <a:rPr lang="en-GB" dirty="0"/>
              <a:t>Create system sequence diagrams (SSDs)</a:t>
            </a:r>
          </a:p>
          <a:p>
            <a:pPr lvl="0"/>
            <a:r>
              <a:rPr lang="en-GB" dirty="0"/>
              <a:t>Design system architecture</a:t>
            </a:r>
          </a:p>
          <a:p>
            <a:pPr lvl="0"/>
            <a:r>
              <a:rPr lang="en-GB" dirty="0"/>
              <a:t>Build architectural proof-of-concept</a:t>
            </a:r>
          </a:p>
          <a:p>
            <a:r>
              <a:rPr lang="en-GB" dirty="0"/>
              <a:t>Deliverables</a:t>
            </a:r>
          </a:p>
          <a:p>
            <a:pPr lvl="0"/>
            <a:r>
              <a:rPr lang="en-GB" dirty="0"/>
              <a:t>Detailed use cases</a:t>
            </a:r>
          </a:p>
          <a:p>
            <a:pPr lvl="0"/>
            <a:r>
              <a:rPr lang="en-GB" dirty="0"/>
              <a:t>Domain model</a:t>
            </a:r>
          </a:p>
          <a:p>
            <a:pPr lvl="0"/>
            <a:r>
              <a:rPr lang="en-GB" dirty="0"/>
              <a:t>System sequence diagrams</a:t>
            </a:r>
          </a:p>
          <a:p>
            <a:pPr lvl="0"/>
            <a:r>
              <a:rPr lang="en-GB" dirty="0"/>
              <a:t>Architectural prototype</a:t>
            </a:r>
          </a:p>
          <a:p>
            <a:r>
              <a:rPr lang="en-GB" dirty="0"/>
              <a:t>Justification</a:t>
            </a:r>
          </a:p>
          <a:p>
            <a:r>
              <a:rPr lang="en-GB" dirty="0"/>
              <a:t>This phase focuses on building a strong system architecture and understanding key system interactions.</a:t>
            </a:r>
          </a:p>
          <a:p>
            <a:endParaRPr lang="en-GB" dirty="0"/>
          </a:p>
        </p:txBody>
      </p:sp>
    </p:spTree>
    <p:extLst>
      <p:ext uri="{BB962C8B-B14F-4D97-AF65-F5344CB8AC3E}">
        <p14:creationId xmlns:p14="http://schemas.microsoft.com/office/powerpoint/2010/main" val="35567633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970B3B-8F8A-8B08-BD12-93F4DD841FFD}"/>
              </a:ext>
            </a:extLst>
          </p:cNvPr>
          <p:cNvSpPr>
            <a:spLocks noGrp="1"/>
          </p:cNvSpPr>
          <p:nvPr>
            <p:ph type="title"/>
          </p:nvPr>
        </p:nvSpPr>
        <p:spPr/>
        <p:txBody>
          <a:bodyPr/>
          <a:lstStyle/>
          <a:p>
            <a:r>
              <a:rPr lang="en-GB" b="1" dirty="0"/>
              <a:t>Week 6–8: Elaboration Phase (Iteration 2)</a:t>
            </a:r>
            <a:br>
              <a:rPr lang="en-GB" dirty="0"/>
            </a:br>
            <a:endParaRPr lang="en-GB" dirty="0"/>
          </a:p>
        </p:txBody>
      </p:sp>
      <p:sp>
        <p:nvSpPr>
          <p:cNvPr id="3" name="Content Placeholder 2">
            <a:extLst>
              <a:ext uri="{FF2B5EF4-FFF2-40B4-BE49-F238E27FC236}">
                <a16:creationId xmlns:a16="http://schemas.microsoft.com/office/drawing/2014/main" id="{A1AA73EA-1E95-8725-831E-031896A18C14}"/>
              </a:ext>
            </a:extLst>
          </p:cNvPr>
          <p:cNvSpPr>
            <a:spLocks noGrp="1"/>
          </p:cNvSpPr>
          <p:nvPr>
            <p:ph idx="1"/>
          </p:nvPr>
        </p:nvSpPr>
        <p:spPr>
          <a:xfrm>
            <a:off x="1103312" y="1853248"/>
            <a:ext cx="10935192" cy="4869894"/>
          </a:xfrm>
        </p:spPr>
        <p:txBody>
          <a:bodyPr>
            <a:normAutofit fontScale="85000" lnSpcReduction="20000"/>
          </a:bodyPr>
          <a:lstStyle/>
          <a:p>
            <a:pPr marL="0" indent="0">
              <a:buNone/>
            </a:pPr>
            <a:endParaRPr lang="en-GB" dirty="0"/>
          </a:p>
          <a:p>
            <a:r>
              <a:rPr lang="en-GB" dirty="0"/>
              <a:t>Milestone: Risk-Driven Design</a:t>
            </a:r>
          </a:p>
          <a:p>
            <a:r>
              <a:rPr lang="en-GB" dirty="0"/>
              <a:t>Activities</a:t>
            </a:r>
          </a:p>
          <a:p>
            <a:pPr lvl="0"/>
            <a:r>
              <a:rPr lang="en-GB" dirty="0"/>
              <a:t>Complete remaining use cases (70%)</a:t>
            </a:r>
          </a:p>
          <a:p>
            <a:pPr lvl="0"/>
            <a:r>
              <a:rPr lang="en-GB" dirty="0"/>
              <a:t>Refine design class diagrams</a:t>
            </a:r>
          </a:p>
          <a:p>
            <a:pPr lvl="0"/>
            <a:r>
              <a:rPr lang="en-GB" dirty="0"/>
              <a:t>Develop UI prototypes</a:t>
            </a:r>
          </a:p>
          <a:p>
            <a:pPr lvl="0"/>
            <a:r>
              <a:rPr lang="en-GB" dirty="0"/>
              <a:t>Update risk list</a:t>
            </a:r>
          </a:p>
          <a:p>
            <a:r>
              <a:rPr lang="en-GB" dirty="0"/>
              <a:t>Deliverables</a:t>
            </a:r>
          </a:p>
          <a:p>
            <a:pPr lvl="0"/>
            <a:r>
              <a:rPr lang="en-GB" dirty="0"/>
              <a:t>Complete use case model</a:t>
            </a:r>
          </a:p>
          <a:p>
            <a:pPr lvl="0"/>
            <a:r>
              <a:rPr lang="en-GB" dirty="0"/>
              <a:t>Design class diagrams</a:t>
            </a:r>
          </a:p>
          <a:p>
            <a:pPr lvl="0"/>
            <a:r>
              <a:rPr lang="en-GB" dirty="0"/>
              <a:t>UI prototypes</a:t>
            </a:r>
          </a:p>
          <a:p>
            <a:pPr lvl="0"/>
            <a:r>
              <a:rPr lang="en-GB" dirty="0"/>
              <a:t>Updated risk list</a:t>
            </a:r>
          </a:p>
          <a:p>
            <a:r>
              <a:rPr lang="en-GB" dirty="0"/>
              <a:t>Justification</a:t>
            </a:r>
          </a:p>
          <a:p>
            <a:r>
              <a:rPr lang="en-GB" dirty="0"/>
              <a:t>This phase ensures risks are minimized and the design is stable before full implementation.</a:t>
            </a:r>
          </a:p>
          <a:p>
            <a:endParaRPr lang="en-GB" dirty="0"/>
          </a:p>
        </p:txBody>
      </p:sp>
    </p:spTree>
    <p:extLst>
      <p:ext uri="{BB962C8B-B14F-4D97-AF65-F5344CB8AC3E}">
        <p14:creationId xmlns:p14="http://schemas.microsoft.com/office/powerpoint/2010/main" val="39345439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4C765-37DD-E59E-DC22-13E015AB602D}"/>
              </a:ext>
            </a:extLst>
          </p:cNvPr>
          <p:cNvSpPr>
            <a:spLocks noGrp="1"/>
          </p:cNvSpPr>
          <p:nvPr>
            <p:ph type="title"/>
          </p:nvPr>
        </p:nvSpPr>
        <p:spPr/>
        <p:txBody>
          <a:bodyPr/>
          <a:lstStyle/>
          <a:p>
            <a:r>
              <a:rPr lang="en-GB" b="1" dirty="0"/>
              <a:t>Week 9–12: Construction Phase (Iterations 3–4)</a:t>
            </a:r>
            <a:br>
              <a:rPr lang="en-GB" dirty="0"/>
            </a:br>
            <a:endParaRPr lang="en-GB" dirty="0"/>
          </a:p>
        </p:txBody>
      </p:sp>
      <p:sp>
        <p:nvSpPr>
          <p:cNvPr id="3" name="Content Placeholder 2">
            <a:extLst>
              <a:ext uri="{FF2B5EF4-FFF2-40B4-BE49-F238E27FC236}">
                <a16:creationId xmlns:a16="http://schemas.microsoft.com/office/drawing/2014/main" id="{F6DE9308-B0C7-1625-478C-03CC2EF44BF2}"/>
              </a:ext>
            </a:extLst>
          </p:cNvPr>
          <p:cNvSpPr>
            <a:spLocks noGrp="1"/>
          </p:cNvSpPr>
          <p:nvPr>
            <p:ph idx="1"/>
          </p:nvPr>
        </p:nvSpPr>
        <p:spPr>
          <a:xfrm>
            <a:off x="1103312" y="2052918"/>
            <a:ext cx="10915456" cy="4532078"/>
          </a:xfrm>
        </p:spPr>
        <p:txBody>
          <a:bodyPr>
            <a:normAutofit fontScale="77500" lnSpcReduction="20000"/>
          </a:bodyPr>
          <a:lstStyle/>
          <a:p>
            <a:pPr marL="0" indent="0">
              <a:buNone/>
            </a:pPr>
            <a:endParaRPr lang="en-GB" dirty="0"/>
          </a:p>
          <a:p>
            <a:r>
              <a:rPr lang="en-GB" dirty="0"/>
              <a:t>Milestone: Feature Implementation</a:t>
            </a:r>
          </a:p>
          <a:p>
            <a:r>
              <a:rPr lang="en-GB" dirty="0"/>
              <a:t>Activities</a:t>
            </a:r>
          </a:p>
          <a:p>
            <a:pPr lvl="0"/>
            <a:r>
              <a:rPr lang="en-GB" dirty="0"/>
              <a:t>Implement prioritized system features</a:t>
            </a:r>
          </a:p>
          <a:p>
            <a:pPr lvl="0"/>
            <a:r>
              <a:rPr lang="en-GB" dirty="0"/>
              <a:t>Perform unit testing</a:t>
            </a:r>
          </a:p>
          <a:p>
            <a:pPr lvl="0"/>
            <a:r>
              <a:rPr lang="en-GB" dirty="0"/>
              <a:t>Conduct integration testing</a:t>
            </a:r>
          </a:p>
          <a:p>
            <a:pPr lvl="0"/>
            <a:r>
              <a:rPr lang="en-GB" dirty="0"/>
              <a:t>Use Git for version control</a:t>
            </a:r>
          </a:p>
          <a:p>
            <a:pPr lvl="0"/>
            <a:r>
              <a:rPr lang="en-GB" dirty="0"/>
              <a:t>Track defects</a:t>
            </a:r>
          </a:p>
          <a:p>
            <a:r>
              <a:rPr lang="en-GB" dirty="0"/>
              <a:t>Deliverables</a:t>
            </a:r>
          </a:p>
          <a:p>
            <a:pPr lvl="0"/>
            <a:r>
              <a:rPr lang="en-GB" dirty="0"/>
              <a:t>Working system features</a:t>
            </a:r>
          </a:p>
          <a:p>
            <a:pPr lvl="0"/>
            <a:r>
              <a:rPr lang="en-GB" dirty="0"/>
              <a:t>Test results</a:t>
            </a:r>
          </a:p>
          <a:p>
            <a:pPr lvl="0"/>
            <a:r>
              <a:rPr lang="en-GB" dirty="0"/>
              <a:t>Source code repository</a:t>
            </a:r>
          </a:p>
          <a:p>
            <a:r>
              <a:rPr lang="en-GB" dirty="0"/>
              <a:t>Justification</a:t>
            </a:r>
          </a:p>
          <a:p>
            <a:r>
              <a:rPr lang="en-GB" dirty="0"/>
              <a:t>This phase focuses on building and testing the full system based on the validated design.</a:t>
            </a:r>
          </a:p>
        </p:txBody>
      </p:sp>
    </p:spTree>
    <p:extLst>
      <p:ext uri="{BB962C8B-B14F-4D97-AF65-F5344CB8AC3E}">
        <p14:creationId xmlns:p14="http://schemas.microsoft.com/office/powerpoint/2010/main" val="9576909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9F2A3-4360-118D-0AC7-B9D2B97C9B69}"/>
              </a:ext>
            </a:extLst>
          </p:cNvPr>
          <p:cNvSpPr>
            <a:spLocks noGrp="1"/>
          </p:cNvSpPr>
          <p:nvPr>
            <p:ph type="title"/>
          </p:nvPr>
        </p:nvSpPr>
        <p:spPr/>
        <p:txBody>
          <a:bodyPr/>
          <a:lstStyle/>
          <a:p>
            <a:r>
              <a:rPr lang="en-GB" b="1" dirty="0"/>
              <a:t>Week 13–14: Transition Phase (Iteration 5)</a:t>
            </a:r>
            <a:br>
              <a:rPr lang="en-GB" dirty="0"/>
            </a:br>
            <a:endParaRPr lang="en-GB" dirty="0"/>
          </a:p>
        </p:txBody>
      </p:sp>
      <p:sp>
        <p:nvSpPr>
          <p:cNvPr id="3" name="Content Placeholder 2">
            <a:extLst>
              <a:ext uri="{FF2B5EF4-FFF2-40B4-BE49-F238E27FC236}">
                <a16:creationId xmlns:a16="http://schemas.microsoft.com/office/drawing/2014/main" id="{2903B9AE-DAFF-C964-2D23-F63C21A056A9}"/>
              </a:ext>
            </a:extLst>
          </p:cNvPr>
          <p:cNvSpPr>
            <a:spLocks noGrp="1"/>
          </p:cNvSpPr>
          <p:nvPr>
            <p:ph idx="1"/>
          </p:nvPr>
        </p:nvSpPr>
        <p:spPr/>
        <p:txBody>
          <a:bodyPr>
            <a:normAutofit fontScale="77500" lnSpcReduction="20000"/>
          </a:bodyPr>
          <a:lstStyle/>
          <a:p>
            <a:pPr marL="0" indent="0">
              <a:buNone/>
            </a:pPr>
            <a:endParaRPr lang="en-GB" dirty="0"/>
          </a:p>
          <a:p>
            <a:r>
              <a:rPr lang="en-GB" dirty="0"/>
              <a:t>Milestone: Polishing &amp; Deployment Preparation</a:t>
            </a:r>
          </a:p>
          <a:p>
            <a:r>
              <a:rPr lang="en-GB" dirty="0"/>
              <a:t>Activities</a:t>
            </a:r>
          </a:p>
          <a:p>
            <a:pPr lvl="0"/>
            <a:r>
              <a:rPr lang="en-GB" dirty="0"/>
              <a:t>Beta testing</a:t>
            </a:r>
          </a:p>
          <a:p>
            <a:pPr lvl="0"/>
            <a:r>
              <a:rPr lang="en-GB" dirty="0"/>
              <a:t>Collect user feedback</a:t>
            </a:r>
          </a:p>
          <a:p>
            <a:pPr lvl="0"/>
            <a:r>
              <a:rPr lang="en-GB" dirty="0"/>
              <a:t>Optimize system performance</a:t>
            </a:r>
          </a:p>
          <a:p>
            <a:pPr lvl="0"/>
            <a:r>
              <a:rPr lang="en-GB" dirty="0"/>
              <a:t>Prepare documentation</a:t>
            </a:r>
          </a:p>
          <a:p>
            <a:r>
              <a:rPr lang="en-GB" dirty="0"/>
              <a:t>Deliverables</a:t>
            </a:r>
          </a:p>
          <a:p>
            <a:pPr lvl="0"/>
            <a:r>
              <a:rPr lang="en-GB" dirty="0"/>
              <a:t>Beta-tested system</a:t>
            </a:r>
          </a:p>
          <a:p>
            <a:pPr lvl="0"/>
            <a:r>
              <a:rPr lang="en-GB" dirty="0"/>
              <a:t>User manual</a:t>
            </a:r>
          </a:p>
          <a:p>
            <a:pPr lvl="0"/>
            <a:r>
              <a:rPr lang="en-GB" dirty="0"/>
              <a:t>Final models</a:t>
            </a:r>
          </a:p>
          <a:p>
            <a:r>
              <a:rPr lang="en-GB" dirty="0"/>
              <a:t>Justification</a:t>
            </a:r>
          </a:p>
          <a:p>
            <a:r>
              <a:rPr lang="en-GB" dirty="0"/>
              <a:t>This phase ensures the system is stable and ready for final deployment.</a:t>
            </a:r>
          </a:p>
          <a:p>
            <a:endParaRPr lang="en-GB" dirty="0"/>
          </a:p>
        </p:txBody>
      </p:sp>
    </p:spTree>
    <p:extLst>
      <p:ext uri="{BB962C8B-B14F-4D97-AF65-F5344CB8AC3E}">
        <p14:creationId xmlns:p14="http://schemas.microsoft.com/office/powerpoint/2010/main" val="7275236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0C0D0-5C0C-558E-4057-5FDA132D63A0}"/>
              </a:ext>
            </a:extLst>
          </p:cNvPr>
          <p:cNvSpPr>
            <a:spLocks noGrp="1"/>
          </p:cNvSpPr>
          <p:nvPr>
            <p:ph type="title"/>
          </p:nvPr>
        </p:nvSpPr>
        <p:spPr/>
        <p:txBody>
          <a:bodyPr/>
          <a:lstStyle/>
          <a:p>
            <a:r>
              <a:rPr lang="en-GB" b="1" dirty="0"/>
              <a:t>Week 15: Final Transition</a:t>
            </a:r>
            <a:br>
              <a:rPr lang="en-GB" dirty="0"/>
            </a:br>
            <a:endParaRPr lang="en-GB" dirty="0"/>
          </a:p>
        </p:txBody>
      </p:sp>
      <p:sp>
        <p:nvSpPr>
          <p:cNvPr id="3" name="Content Placeholder 2">
            <a:extLst>
              <a:ext uri="{FF2B5EF4-FFF2-40B4-BE49-F238E27FC236}">
                <a16:creationId xmlns:a16="http://schemas.microsoft.com/office/drawing/2014/main" id="{2787887E-D019-32E2-268E-32DA276FD49E}"/>
              </a:ext>
            </a:extLst>
          </p:cNvPr>
          <p:cNvSpPr>
            <a:spLocks noGrp="1"/>
          </p:cNvSpPr>
          <p:nvPr>
            <p:ph idx="1"/>
          </p:nvPr>
        </p:nvSpPr>
        <p:spPr/>
        <p:txBody>
          <a:bodyPr/>
          <a:lstStyle/>
          <a:p>
            <a:pPr marL="0" indent="0">
              <a:buNone/>
            </a:pPr>
            <a:endParaRPr lang="en-GB" dirty="0"/>
          </a:p>
          <a:p>
            <a:r>
              <a:rPr lang="en-GB" dirty="0"/>
              <a:t>Milestone: Demo &amp; Submission</a:t>
            </a:r>
          </a:p>
          <a:p>
            <a:r>
              <a:rPr lang="en-GB" dirty="0"/>
              <a:t>Deliverables</a:t>
            </a:r>
          </a:p>
          <a:p>
            <a:pPr lvl="0"/>
            <a:r>
              <a:rPr lang="en-GB" dirty="0"/>
              <a:t>Live system demonstration</a:t>
            </a:r>
          </a:p>
          <a:p>
            <a:pPr lvl="0"/>
            <a:r>
              <a:rPr lang="en-GB" dirty="0"/>
              <a:t>Final report</a:t>
            </a:r>
          </a:p>
          <a:p>
            <a:pPr lvl="0"/>
            <a:r>
              <a:rPr lang="en-GB" dirty="0"/>
              <a:t>Code repository</a:t>
            </a:r>
          </a:p>
          <a:p>
            <a:pPr lvl="0"/>
            <a:r>
              <a:rPr lang="en-GB" dirty="0"/>
              <a:t>Lessons learned</a:t>
            </a:r>
          </a:p>
          <a:p>
            <a:endParaRPr lang="en-GB" dirty="0"/>
          </a:p>
        </p:txBody>
      </p:sp>
    </p:spTree>
    <p:extLst>
      <p:ext uri="{BB962C8B-B14F-4D97-AF65-F5344CB8AC3E}">
        <p14:creationId xmlns:p14="http://schemas.microsoft.com/office/powerpoint/2010/main" val="209537145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12</TotalTime>
  <Words>1015</Words>
  <Application>Microsoft Office PowerPoint</Application>
  <PresentationFormat>Widescreen</PresentationFormat>
  <Paragraphs>224</Paragraphs>
  <Slides>15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Century Gothic</vt:lpstr>
      <vt:lpstr>Wingdings 3</vt:lpstr>
      <vt:lpstr>Ion</vt:lpstr>
      <vt:lpstr>    THE UNIVERSITY OF ZAMBIA School of Natural Sciences (NS) Department of Computer Science  CSC 4630 – Advanced Software Engineering   </vt:lpstr>
      <vt:lpstr>Roles </vt:lpstr>
      <vt:lpstr>1. INCEPTION PHASE</vt:lpstr>
      <vt:lpstr>1.2 Proposed Solution</vt:lpstr>
      <vt:lpstr>1.3 Business Case</vt:lpstr>
      <vt:lpstr>POS System Requirements</vt:lpstr>
      <vt:lpstr>1.4 High-Level Use Cases (10%)</vt:lpstr>
      <vt:lpstr>1.5 Risk List</vt:lpstr>
      <vt:lpstr>1.6 Feasibility Study</vt:lpstr>
      <vt:lpstr>1.7 Iteration Plan </vt:lpstr>
      <vt:lpstr>Week 3–5: Elaboration Phase (Iteration 1) </vt:lpstr>
      <vt:lpstr>Week 6–8: Elaboration Phase (Iteration 2) </vt:lpstr>
      <vt:lpstr>Week 9–12: Construction Phase (Iterations 3–4) </vt:lpstr>
      <vt:lpstr>Week 13–14: Transition Phase (Iteration 5) </vt:lpstr>
      <vt:lpstr>Week 15: Final Transition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JOEFREY</dc:creator>
  <cp:lastModifiedBy>Vernon Longwani</cp:lastModifiedBy>
  <cp:revision>18</cp:revision>
  <dcterms:created xsi:type="dcterms:W3CDTF">2026-02-20T06:01:55Z</dcterms:created>
  <dcterms:modified xsi:type="dcterms:W3CDTF">2026-02-20T23:58:26Z</dcterms:modified>
</cp:coreProperties>
</file>